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5" r:id="rId10"/>
    <p:sldId id="266" r:id="rId11"/>
    <p:sldId id="267" r:id="rId12"/>
    <p:sldId id="268" r:id="rId13"/>
    <p:sldId id="26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49500"/>
    <a:srgbClr val="967200"/>
    <a:srgbClr val="8E0000"/>
    <a:srgbClr val="9E0000"/>
    <a:srgbClr val="68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993" autoAdjust="0"/>
    <p:restoredTop sz="94660"/>
  </p:normalViewPr>
  <p:slideViewPr>
    <p:cSldViewPr snapToGrid="0">
      <p:cViewPr>
        <p:scale>
          <a:sx n="125" d="100"/>
          <a:sy n="125" d="100"/>
        </p:scale>
        <p:origin x="1512"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6AD7F9-E486-6633-7135-3675C89765C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BCFD930-1A16-93BE-06D7-638EA861F35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7F429D-E64A-5051-6F46-CFC4723E3164}"/>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174FFCE8-0124-7F48-1023-26AF5FB7BC1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A2D99-C1F1-437D-5D85-339D586D4C36}"/>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2544858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8E70B7-EBFB-F1CE-B6FE-142A7910450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1509F2B-ED62-22B0-5099-C683D13465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845742B-7E9C-DFE7-A2F2-0EF880C21481}"/>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8854A677-1B99-30CF-10D9-1C4252D908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40E1DF-CF81-E9AE-483D-FE723A0F74A7}"/>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1095877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543E7-B507-2AE8-8D77-22459E518BE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A88EA7C-9FFA-4A8C-355A-8B9A3CAD9ED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8734C6-8801-B7EC-B895-2C5EE7F8D89E}"/>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5A2935ED-748F-F87C-F38E-49231459A53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8F62D87-5A0A-04E4-8D09-24975B0B4C72}"/>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19462600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EEC26F-9AD5-7B47-A894-6C2DCA17519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D21E28B-517F-6978-5E55-3B268758B164}"/>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6BACBEF-2C38-4F67-BED6-1B093215F62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1EC30B1-A210-6914-AB90-037877465E0C}"/>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6" name="Footer Placeholder 5">
            <a:extLst>
              <a:ext uri="{FF2B5EF4-FFF2-40B4-BE49-F238E27FC236}">
                <a16:creationId xmlns:a16="http://schemas.microsoft.com/office/drawing/2014/main" id="{7DE13805-C110-EC7E-5945-D12E4D5507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A3BD49-142F-5C26-A681-CE71C95167B4}"/>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13891018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4E0F93-A0AC-2CEE-10E7-7464AFE19FB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232266-6028-AE92-16F2-885DFB8AC65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FD29E3D-3286-E005-1BFD-4E922B6AC15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6AD4F0B-7CD2-6881-4FEC-30F740A0740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AA34B35-B31A-11E5-EAEF-C032A2C856F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F17A4AF-70BB-66A5-82BA-4CFA5A2ADFBD}"/>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8" name="Footer Placeholder 7">
            <a:extLst>
              <a:ext uri="{FF2B5EF4-FFF2-40B4-BE49-F238E27FC236}">
                <a16:creationId xmlns:a16="http://schemas.microsoft.com/office/drawing/2014/main" id="{E003AA10-CD7D-FB2B-C21B-07B10D87A39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CD4A7B0-7811-E029-CC8F-4E4A5B823D1F}"/>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34579939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BF716-C620-FBF9-72CE-C207976DE46C}"/>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7E31B54-FD6C-2F51-AA02-FFBD30F59F99}"/>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4" name="Footer Placeholder 3">
            <a:extLst>
              <a:ext uri="{FF2B5EF4-FFF2-40B4-BE49-F238E27FC236}">
                <a16:creationId xmlns:a16="http://schemas.microsoft.com/office/drawing/2014/main" id="{DBD08D2A-AB9A-3F54-4FE8-503C86817DE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82A54E7-74B5-6689-E07B-80951C3B7C97}"/>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37326628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D5FF8-43FE-59AD-012E-F6F0BADCB33B}"/>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3" name="Footer Placeholder 2">
            <a:extLst>
              <a:ext uri="{FF2B5EF4-FFF2-40B4-BE49-F238E27FC236}">
                <a16:creationId xmlns:a16="http://schemas.microsoft.com/office/drawing/2014/main" id="{31C65CF3-E488-8E18-5002-73C0D757DE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8C5CFED7-7F90-985B-1064-58D8D11F337F}"/>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8973586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0D9E22-584F-EC10-B8C1-A0F231B0457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945032E-7C54-5948-75E9-D38DA39200C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4B6644-CC26-1BF8-F2C3-578CE0093CF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547E642-C65D-8A31-F7FD-A74EF0E90D06}"/>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6" name="Footer Placeholder 5">
            <a:extLst>
              <a:ext uri="{FF2B5EF4-FFF2-40B4-BE49-F238E27FC236}">
                <a16:creationId xmlns:a16="http://schemas.microsoft.com/office/drawing/2014/main" id="{1248C452-49DA-C612-DDDC-B9522D2E98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E7874A8-EF7A-A521-AA98-BA64FE599E8C}"/>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19470238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766E7-7B5F-0FC0-185D-A0BE01EF2CF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D8847E-53F7-7695-72B5-9B57AB642C8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97675FA-6CC7-6702-BA5D-FCBBAE5FA2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70E381F-0991-534C-93E6-3F6B330392AB}"/>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6" name="Footer Placeholder 5">
            <a:extLst>
              <a:ext uri="{FF2B5EF4-FFF2-40B4-BE49-F238E27FC236}">
                <a16:creationId xmlns:a16="http://schemas.microsoft.com/office/drawing/2014/main" id="{A66EF856-1747-EB42-62B8-4ADBB21251D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B20AA1-5264-8117-BD86-DBE3F441F37F}"/>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30771504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1F090-19FD-5B0D-A412-3061B93D5A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815029-A563-2767-A240-3819ADE599F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8A2F16-88E5-CBB1-444E-911EA62AC459}"/>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78321BD8-8DCB-1279-95D6-261B716DD83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7FEC3BD-BDC4-234F-18D4-394CE1EF9CDD}"/>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23795179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E188C0-5298-7FDE-553D-BFA07468584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DB81745-5327-18E9-417B-C6D26E7C04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A6D9B79-C1B5-0ABB-A1AF-85B5C8B8B61E}"/>
              </a:ext>
            </a:extLst>
          </p:cNvPr>
          <p:cNvSpPr>
            <a:spLocks noGrp="1"/>
          </p:cNvSpPr>
          <p:nvPr>
            <p:ph type="dt" sz="half" idx="10"/>
          </p:nvPr>
        </p:nvSpPr>
        <p:spPr/>
        <p:txBody>
          <a:body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B06B7C75-9350-4EAA-079B-E434564E0AD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A25A295-DC7C-BE72-776C-BF2A83E1ACB0}"/>
              </a:ext>
            </a:extLst>
          </p:cNvPr>
          <p:cNvSpPr>
            <a:spLocks noGrp="1"/>
          </p:cNvSpPr>
          <p:nvPr>
            <p:ph type="sldNum" sz="quarter" idx="12"/>
          </p:nvPr>
        </p:nvSpPr>
        <p:spPr/>
        <p:txBody>
          <a:bodyPr/>
          <a:lstStyle/>
          <a:p>
            <a:fld id="{7E6FFDDE-9D45-407F-BF16-0E9E0E17F27B}" type="slidenum">
              <a:rPr lang="en-US" smtClean="0"/>
              <a:t>‹#›</a:t>
            </a:fld>
            <a:endParaRPr lang="en-US"/>
          </a:p>
        </p:txBody>
      </p:sp>
    </p:spTree>
    <p:extLst>
      <p:ext uri="{BB962C8B-B14F-4D97-AF65-F5344CB8AC3E}">
        <p14:creationId xmlns:p14="http://schemas.microsoft.com/office/powerpoint/2010/main" val="11845707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49E087-64F4-F738-B445-D2A12279C80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8A61C761-BF07-3AAC-2843-5497D107B5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04A320F-2E87-5257-1255-DFD78AC3EC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AF108B4-73A9-48F5-89BC-F0BDEE612580}" type="datetimeFigureOut">
              <a:rPr lang="en-US" smtClean="0"/>
              <a:t>3/1/2026</a:t>
            </a:fld>
            <a:endParaRPr lang="en-US"/>
          </a:p>
        </p:txBody>
      </p:sp>
      <p:sp>
        <p:nvSpPr>
          <p:cNvPr id="5" name="Footer Placeholder 4">
            <a:extLst>
              <a:ext uri="{FF2B5EF4-FFF2-40B4-BE49-F238E27FC236}">
                <a16:creationId xmlns:a16="http://schemas.microsoft.com/office/drawing/2014/main" id="{B75468D6-5ED5-6510-01C7-F96395FD05B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D7D62D5-663B-9FEF-F25B-B2DB3857938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E6FFDDE-9D45-407F-BF16-0E9E0E17F27B}" type="slidenum">
              <a:rPr lang="en-US" smtClean="0"/>
              <a:t>‹#›</a:t>
            </a:fld>
            <a:endParaRPr lang="en-US"/>
          </a:p>
        </p:txBody>
      </p:sp>
    </p:spTree>
    <p:extLst>
      <p:ext uri="{BB962C8B-B14F-4D97-AF65-F5344CB8AC3E}">
        <p14:creationId xmlns:p14="http://schemas.microsoft.com/office/powerpoint/2010/main" val="20890632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slide" Target="slide9.xml"/><Relationship Id="rId3" Type="http://schemas.openxmlformats.org/officeDocument/2006/relationships/slide" Target="slide4.xml"/><Relationship Id="rId7" Type="http://schemas.openxmlformats.org/officeDocument/2006/relationships/slide" Target="slide8.xml"/><Relationship Id="rId12" Type="http://schemas.openxmlformats.org/officeDocument/2006/relationships/slide" Target="slide13.xml"/><Relationship Id="rId2" Type="http://schemas.openxmlformats.org/officeDocument/2006/relationships/slide" Target="slide3.xml"/><Relationship Id="rId1" Type="http://schemas.openxmlformats.org/officeDocument/2006/relationships/slideLayout" Target="../slideLayouts/slideLayout7.xml"/><Relationship Id="rId6" Type="http://schemas.openxmlformats.org/officeDocument/2006/relationships/slide" Target="slide7.xml"/><Relationship Id="rId11" Type="http://schemas.openxmlformats.org/officeDocument/2006/relationships/slide" Target="slide12.xml"/><Relationship Id="rId5" Type="http://schemas.openxmlformats.org/officeDocument/2006/relationships/slide" Target="slide6.xml"/><Relationship Id="rId10" Type="http://schemas.openxmlformats.org/officeDocument/2006/relationships/slide" Target="slide11.xml"/><Relationship Id="rId4" Type="http://schemas.openxmlformats.org/officeDocument/2006/relationships/slide" Target="slide5.xml"/><Relationship Id="rId9" Type="http://schemas.openxmlformats.org/officeDocument/2006/relationships/slide" Target="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E46C4419-57E7-9C41-7A6B-8BDA89D190A2}"/>
              </a:ext>
            </a:extLst>
          </p:cNvPr>
          <p:cNvSpPr/>
          <p:nvPr/>
        </p:nvSpPr>
        <p:spPr>
          <a:xfrm>
            <a:off x="-60960" y="0"/>
            <a:ext cx="3915046" cy="6858000"/>
          </a:xfrm>
          <a:prstGeom prst="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AutoShape 8" descr=", gerado pela IA">
            <a:extLst>
              <a:ext uri="{FF2B5EF4-FFF2-40B4-BE49-F238E27FC236}">
                <a16:creationId xmlns:a16="http://schemas.microsoft.com/office/drawing/2014/main" id="{EA916E4E-3B21-9AEE-A13F-2AD7D905BE7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3" name="Picture 12">
            <a:extLst>
              <a:ext uri="{FF2B5EF4-FFF2-40B4-BE49-F238E27FC236}">
                <a16:creationId xmlns:a16="http://schemas.microsoft.com/office/drawing/2014/main" id="{B66DABED-C0FB-0FA0-7643-846219BAA7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4202" y="585551"/>
            <a:ext cx="2904722" cy="1500424"/>
          </a:xfrm>
          <a:prstGeom prst="rect">
            <a:avLst/>
          </a:prstGeom>
        </p:spPr>
      </p:pic>
      <p:sp>
        <p:nvSpPr>
          <p:cNvPr id="14" name="Rectangle 13">
            <a:extLst>
              <a:ext uri="{FF2B5EF4-FFF2-40B4-BE49-F238E27FC236}">
                <a16:creationId xmlns:a16="http://schemas.microsoft.com/office/drawing/2014/main" id="{C7D7B453-08F4-193C-7FB5-82A4260FB9A5}"/>
              </a:ext>
            </a:extLst>
          </p:cNvPr>
          <p:cNvSpPr/>
          <p:nvPr/>
        </p:nvSpPr>
        <p:spPr>
          <a:xfrm>
            <a:off x="3854086" y="0"/>
            <a:ext cx="8337914"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EB074F11-1B95-9C0D-20F8-7D8B5C1F234B}"/>
              </a:ext>
            </a:extLst>
          </p:cNvPr>
          <p:cNvSpPr txBox="1"/>
          <p:nvPr/>
        </p:nvSpPr>
        <p:spPr>
          <a:xfrm>
            <a:off x="6065520" y="505122"/>
            <a:ext cx="3915046" cy="5847755"/>
          </a:xfrm>
          <a:prstGeom prst="rect">
            <a:avLst/>
          </a:prstGeom>
          <a:noFill/>
        </p:spPr>
        <p:txBody>
          <a:bodyPr wrap="none" rtlCol="0">
            <a:spAutoFit/>
          </a:bodyPr>
          <a:lstStyle/>
          <a:p>
            <a:pPr algn="ctr"/>
            <a:r>
              <a:rPr lang="pt-PT" dirty="0"/>
              <a:t>Interação Pessoa Máquina</a:t>
            </a:r>
          </a:p>
          <a:p>
            <a:pPr algn="ctr"/>
            <a:endParaRPr lang="pt-PT" dirty="0"/>
          </a:p>
          <a:p>
            <a:pPr algn="ctr"/>
            <a:r>
              <a:rPr lang="pt-BR" dirty="0"/>
              <a:t>Trabalho Prático Nº2: </a:t>
            </a:r>
          </a:p>
          <a:p>
            <a:pPr algn="ctr"/>
            <a:r>
              <a:rPr lang="pt-BR" dirty="0"/>
              <a:t>Estudo de Guidelines para páginas web</a:t>
            </a:r>
            <a:endParaRPr lang="en-US" dirty="0"/>
          </a:p>
          <a:p>
            <a:pPr algn="ctr"/>
            <a:endParaRPr lang="pt-PT" dirty="0"/>
          </a:p>
          <a:p>
            <a:pPr algn="ctr"/>
            <a:endParaRPr lang="pt-PT" dirty="0"/>
          </a:p>
          <a:p>
            <a:pPr algn="ctr"/>
            <a:endParaRPr lang="pt-PT" dirty="0"/>
          </a:p>
          <a:p>
            <a:pPr algn="ctr"/>
            <a:endParaRPr lang="pt-PT" dirty="0"/>
          </a:p>
          <a:p>
            <a:pPr algn="ctr"/>
            <a:endParaRPr lang="pt-PT" dirty="0"/>
          </a:p>
          <a:p>
            <a:pPr algn="ctr"/>
            <a:endParaRPr lang="pt-PT" dirty="0"/>
          </a:p>
          <a:p>
            <a:pPr algn="ctr"/>
            <a:r>
              <a:rPr lang="pt-PT" sz="1400" dirty="0"/>
              <a:t>01/03/2026</a:t>
            </a:r>
          </a:p>
          <a:p>
            <a:pPr algn="ctr"/>
            <a:endParaRPr lang="pt-PT" dirty="0"/>
          </a:p>
          <a:p>
            <a:pPr algn="ctr"/>
            <a:endParaRPr lang="pt-PT" dirty="0"/>
          </a:p>
          <a:p>
            <a:pPr algn="ctr"/>
            <a:endParaRPr lang="pt-PT" dirty="0"/>
          </a:p>
          <a:p>
            <a:pPr algn="ctr"/>
            <a:endParaRPr lang="pt-PT" dirty="0"/>
          </a:p>
          <a:p>
            <a:pPr algn="ctr"/>
            <a:endParaRPr lang="pt-PT" dirty="0"/>
          </a:p>
          <a:p>
            <a:pPr algn="ctr"/>
            <a:endParaRPr lang="pt-PT" dirty="0"/>
          </a:p>
          <a:p>
            <a:pPr algn="ctr"/>
            <a:endParaRPr lang="pt-PT" dirty="0"/>
          </a:p>
          <a:p>
            <a:pPr algn="ctr"/>
            <a:endParaRPr lang="pt-PT" dirty="0"/>
          </a:p>
          <a:p>
            <a:pPr algn="ctr"/>
            <a:r>
              <a:rPr lang="pt-BR" dirty="0"/>
              <a:t>Maria Pontes 2023133420 </a:t>
            </a:r>
          </a:p>
          <a:p>
            <a:pPr algn="ctr"/>
            <a:r>
              <a:rPr lang="pt-BR" dirty="0"/>
              <a:t>Simão de Jesus da Silva 2024136045</a:t>
            </a:r>
            <a:endParaRPr lang="en-US" dirty="0"/>
          </a:p>
        </p:txBody>
      </p:sp>
    </p:spTree>
    <p:extLst>
      <p:ext uri="{BB962C8B-B14F-4D97-AF65-F5344CB8AC3E}">
        <p14:creationId xmlns:p14="http://schemas.microsoft.com/office/powerpoint/2010/main" val="308394474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749886A-01CB-BD0B-C470-D51B3B88A815}"/>
              </a:ext>
            </a:extLst>
          </p:cNvPr>
          <p:cNvSpPr/>
          <p:nvPr/>
        </p:nvSpPr>
        <p:spPr>
          <a:xfrm>
            <a:off x="-3915046" y="0"/>
            <a:ext cx="3915046" cy="6858000"/>
          </a:xfrm>
          <a:prstGeom prst="rect">
            <a:avLst/>
          </a:prstGeom>
          <a:solidFill>
            <a:srgbClr val="9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TextBox 2">
            <a:extLst>
              <a:ext uri="{FF2B5EF4-FFF2-40B4-BE49-F238E27FC236}">
                <a16:creationId xmlns:a16="http://schemas.microsoft.com/office/drawing/2014/main" id="{EFAD1F8B-95EC-D31C-1483-E9C8B205D8B7}"/>
              </a:ext>
            </a:extLst>
          </p:cNvPr>
          <p:cNvSpPr txBox="1"/>
          <p:nvPr/>
        </p:nvSpPr>
        <p:spPr>
          <a:xfrm>
            <a:off x="746760" y="1859339"/>
            <a:ext cx="8447569" cy="3139321"/>
          </a:xfrm>
          <a:prstGeom prst="rect">
            <a:avLst/>
          </a:prstGeom>
          <a:noFill/>
        </p:spPr>
        <p:txBody>
          <a:bodyPr wrap="none" rtlCol="0">
            <a:spAutoFit/>
          </a:bodyPr>
          <a:lstStyle/>
          <a:p>
            <a:r>
              <a:rPr lang="pt-BR" b="1" dirty="0">
                <a:solidFill>
                  <a:schemeClr val="accent1">
                    <a:lumMod val="50000"/>
                  </a:schemeClr>
                </a:solidFill>
                <a:hlinkClick r:id="rId2" action="ppaction://hlinksldjump">
                  <a:extLst>
                    <a:ext uri="{A12FA001-AC4F-418D-AE19-62706E023703}">
                      <ahyp:hlinkClr xmlns:ahyp="http://schemas.microsoft.com/office/drawing/2018/hyperlinkcolor" val="tx"/>
                    </a:ext>
                  </a:extLst>
                </a:hlinkClick>
              </a:rPr>
              <a:t>Introdução</a:t>
            </a:r>
            <a:endParaRPr lang="pt-BR" b="1" dirty="0">
              <a:solidFill>
                <a:schemeClr val="accent1">
                  <a:lumMod val="50000"/>
                </a:schemeClr>
              </a:solidFill>
            </a:endParaRPr>
          </a:p>
          <a:p>
            <a:r>
              <a:rPr lang="pt-BR" b="1" dirty="0">
                <a:solidFill>
                  <a:schemeClr val="accent1">
                    <a:lumMod val="50000"/>
                  </a:schemeClr>
                </a:solidFill>
                <a:hlinkClick r:id="rId3" action="ppaction://hlinksldjump">
                  <a:extLst>
                    <a:ext uri="{A12FA001-AC4F-418D-AE19-62706E023703}">
                      <ahyp:hlinkClr xmlns:ahyp="http://schemas.microsoft.com/office/drawing/2018/hyperlinkcolor" val="tx"/>
                    </a:ext>
                  </a:extLst>
                </a:hlinkClick>
              </a:rPr>
              <a:t>Revealing Content Through Examples</a:t>
            </a:r>
            <a:endParaRPr lang="pt-BR" b="1" dirty="0">
              <a:solidFill>
                <a:schemeClr val="accent1">
                  <a:lumMod val="50000"/>
                </a:schemeClr>
              </a:solidFill>
            </a:endParaRPr>
          </a:p>
          <a:p>
            <a:r>
              <a:rPr lang="pt-BR" b="1" dirty="0">
                <a:solidFill>
                  <a:schemeClr val="accent1">
                    <a:lumMod val="50000"/>
                  </a:schemeClr>
                </a:solidFill>
              </a:rPr>
              <a:t>	</a:t>
            </a:r>
            <a:r>
              <a:rPr lang="pt-BR" dirty="0">
                <a:solidFill>
                  <a:schemeClr val="accent1">
                    <a:lumMod val="50000"/>
                  </a:schemeClr>
                </a:solidFill>
                <a:hlinkClick r:id="rId4" action="ppaction://hlinksldjump">
                  <a:extLst>
                    <a:ext uri="{A12FA001-AC4F-418D-AE19-62706E023703}">
                      <ahyp:hlinkClr xmlns:ahyp="http://schemas.microsoft.com/office/drawing/2018/hyperlinkcolor" val="tx"/>
                    </a:ext>
                  </a:extLst>
                </a:hlinkClick>
              </a:rPr>
              <a:t>"Usar exemplos para revelar o conteúdo do site“</a:t>
            </a:r>
            <a:endParaRPr lang="pt-BR" dirty="0">
              <a:solidFill>
                <a:schemeClr val="accent1">
                  <a:lumMod val="50000"/>
                </a:schemeClr>
              </a:solidFill>
            </a:endParaRPr>
          </a:p>
          <a:p>
            <a:r>
              <a:rPr lang="pt-BR" dirty="0">
                <a:solidFill>
                  <a:schemeClr val="accent1">
                    <a:lumMod val="50000"/>
                  </a:schemeClr>
                </a:solidFill>
              </a:rPr>
              <a:t>	</a:t>
            </a:r>
            <a:r>
              <a:rPr lang="pt-BR" dirty="0">
                <a:solidFill>
                  <a:schemeClr val="accent1">
                    <a:lumMod val="50000"/>
                  </a:schemeClr>
                </a:solidFill>
                <a:hlinkClick r:id="rId5" action="ppaction://hlinksldjump">
                  <a:extLst>
                    <a:ext uri="{A12FA001-AC4F-418D-AE19-62706E023703}">
                      <ahyp:hlinkClr xmlns:ahyp="http://schemas.microsoft.com/office/drawing/2018/hyperlinkcolor" val="tx"/>
                    </a:ext>
                  </a:extLst>
                </a:hlinkClick>
              </a:rPr>
              <a:t>"Cada exemplo deve ter um link que leve diretamente à página detalhada“</a:t>
            </a:r>
            <a:endParaRPr lang="pt-BR" dirty="0">
              <a:solidFill>
                <a:schemeClr val="accent1">
                  <a:lumMod val="50000"/>
                </a:schemeClr>
              </a:solidFill>
            </a:endParaRPr>
          </a:p>
          <a:p>
            <a:r>
              <a:rPr lang="pt-BR" dirty="0">
                <a:solidFill>
                  <a:schemeClr val="accent1">
                    <a:lumMod val="50000"/>
                  </a:schemeClr>
                </a:solidFill>
              </a:rPr>
              <a:t>	</a:t>
            </a:r>
            <a:r>
              <a:rPr lang="pt-BR" dirty="0">
                <a:solidFill>
                  <a:schemeClr val="accent1">
                    <a:lumMod val="50000"/>
                  </a:schemeClr>
                </a:solidFill>
                <a:hlinkClick r:id="rId6" action="ppaction://hlinksldjump">
                  <a:extLst>
                    <a:ext uri="{A12FA001-AC4F-418D-AE19-62706E023703}">
                      <ahyp:hlinkClr xmlns:ahyp="http://schemas.microsoft.com/office/drawing/2018/hyperlinkcolor" val="tx"/>
                    </a:ext>
                  </a:extLst>
                </a:hlinkClick>
              </a:rPr>
              <a:t>"Fornecer um link para a categoria mais geral ao lado do exemplo específico“</a:t>
            </a:r>
            <a:endParaRPr lang="pt-BR" dirty="0">
              <a:solidFill>
                <a:schemeClr val="accent1">
                  <a:lumMod val="50000"/>
                </a:schemeClr>
              </a:solidFill>
            </a:endParaRPr>
          </a:p>
          <a:p>
            <a:r>
              <a:rPr lang="pt-BR" dirty="0">
                <a:solidFill>
                  <a:schemeClr val="accent1">
                    <a:lumMod val="50000"/>
                  </a:schemeClr>
                </a:solidFill>
              </a:rPr>
              <a:t>	</a:t>
            </a:r>
            <a:r>
              <a:rPr lang="pt-BR" dirty="0">
                <a:solidFill>
                  <a:schemeClr val="accent1">
                    <a:lumMod val="50000"/>
                  </a:schemeClr>
                </a:solidFill>
                <a:hlinkClick r:id="rId7" action="ppaction://hlinksldjump">
                  <a:extLst>
                    <a:ext uri="{A12FA001-AC4F-418D-AE19-62706E023703}">
                      <ahyp:hlinkClr xmlns:ahyp="http://schemas.microsoft.com/office/drawing/2018/hyperlinkcolor" val="tx"/>
                    </a:ext>
                  </a:extLst>
                </a:hlinkClick>
              </a:rPr>
              <a:t>"Facilitar distinção visual entre os links de exemplo dos links de categoria“</a:t>
            </a:r>
            <a:endParaRPr lang="pt-BR" dirty="0">
              <a:solidFill>
                <a:schemeClr val="accent1">
                  <a:lumMod val="50000"/>
                </a:schemeClr>
              </a:solidFill>
            </a:endParaRPr>
          </a:p>
          <a:p>
            <a:r>
              <a:rPr lang="pt-BR" b="1" dirty="0">
                <a:solidFill>
                  <a:schemeClr val="accent1">
                    <a:lumMod val="50000"/>
                  </a:schemeClr>
                </a:solidFill>
                <a:hlinkClick r:id="rId8" action="ppaction://hlinksldjump">
                  <a:extLst>
                    <a:ext uri="{A12FA001-AC4F-418D-AE19-62706E023703}">
                      <ahyp:hlinkClr xmlns:ahyp="http://schemas.microsoft.com/office/drawing/2018/hyperlinkcolor" val="tx"/>
                    </a:ext>
                  </a:extLst>
                </a:hlinkClick>
              </a:rPr>
              <a:t>Tools and Task Shortcuts</a:t>
            </a:r>
            <a:endParaRPr lang="pt-BR" b="1" dirty="0">
              <a:solidFill>
                <a:schemeClr val="accent1">
                  <a:lumMod val="50000"/>
                </a:schemeClr>
              </a:solidFill>
            </a:endParaRPr>
          </a:p>
          <a:p>
            <a:r>
              <a:rPr lang="pt-BR" b="1" dirty="0">
                <a:solidFill>
                  <a:schemeClr val="accent1">
                    <a:lumMod val="50000"/>
                  </a:schemeClr>
                </a:solidFill>
              </a:rPr>
              <a:t>	</a:t>
            </a:r>
            <a:r>
              <a:rPr lang="pt-BR" dirty="0">
                <a:solidFill>
                  <a:schemeClr val="accent1">
                    <a:lumMod val="50000"/>
                  </a:schemeClr>
                </a:solidFill>
                <a:hlinkClick r:id="rId9" action="ppaction://hlinksldjump">
                  <a:extLst>
                    <a:ext uri="{A12FA001-AC4F-418D-AE19-62706E023703}">
                      <ahyp:hlinkClr xmlns:ahyp="http://schemas.microsoft.com/office/drawing/2018/hyperlinkcolor" val="tx"/>
                    </a:ext>
                  </a:extLst>
                </a:hlinkClick>
              </a:rPr>
              <a:t>"Oferecer acesso direto às tarefas de alta prioridade“</a:t>
            </a:r>
            <a:endParaRPr lang="pt-BR" dirty="0">
              <a:solidFill>
                <a:schemeClr val="accent1">
                  <a:lumMod val="50000"/>
                </a:schemeClr>
              </a:solidFill>
            </a:endParaRPr>
          </a:p>
          <a:p>
            <a:r>
              <a:rPr lang="pt-BR" dirty="0">
                <a:solidFill>
                  <a:schemeClr val="accent1">
                    <a:lumMod val="50000"/>
                  </a:schemeClr>
                </a:solidFill>
              </a:rPr>
              <a:t>	</a:t>
            </a:r>
            <a:r>
              <a:rPr lang="pt-BR" dirty="0">
                <a:solidFill>
                  <a:schemeClr val="accent1">
                    <a:lumMod val="50000"/>
                  </a:schemeClr>
                </a:solidFill>
                <a:hlinkClick r:id="rId10" action="ppaction://hlinksldjump">
                  <a:extLst>
                    <a:ext uri="{A12FA001-AC4F-418D-AE19-62706E023703}">
                      <ahyp:hlinkClr xmlns:ahyp="http://schemas.microsoft.com/office/drawing/2018/hyperlinkcolor" val="tx"/>
                    </a:ext>
                  </a:extLst>
                </a:hlinkClick>
              </a:rPr>
              <a:t>"Não incluir ferramentas que não correspondem às tarefas do utilizador“</a:t>
            </a:r>
            <a:endParaRPr lang="pt-BR" dirty="0">
              <a:solidFill>
                <a:schemeClr val="accent1">
                  <a:lumMod val="50000"/>
                </a:schemeClr>
              </a:solidFill>
            </a:endParaRPr>
          </a:p>
          <a:p>
            <a:r>
              <a:rPr lang="pt-BR" dirty="0">
                <a:solidFill>
                  <a:schemeClr val="accent1">
                    <a:lumMod val="50000"/>
                  </a:schemeClr>
                </a:solidFill>
              </a:rPr>
              <a:t>	</a:t>
            </a:r>
            <a:r>
              <a:rPr lang="pt-BR" dirty="0">
                <a:solidFill>
                  <a:schemeClr val="accent1">
                    <a:lumMod val="50000"/>
                  </a:schemeClr>
                </a:solidFill>
                <a:hlinkClick r:id="rId11" action="ppaction://hlinksldjump">
                  <a:extLst>
                    <a:ext uri="{A12FA001-AC4F-418D-AE19-62706E023703}">
                      <ahyp:hlinkClr xmlns:ahyp="http://schemas.microsoft.com/office/drawing/2018/hyperlinkcolor" val="tx"/>
                    </a:ext>
                  </a:extLst>
                </a:hlinkClick>
              </a:rPr>
              <a:t>"Não reproduzir funcionalidades que o browser já oferece“</a:t>
            </a:r>
            <a:endParaRPr lang="pt-BR" dirty="0">
              <a:solidFill>
                <a:schemeClr val="accent1">
                  <a:lumMod val="50000"/>
                </a:schemeClr>
              </a:solidFill>
            </a:endParaRPr>
          </a:p>
          <a:p>
            <a:r>
              <a:rPr lang="pt-BR" b="1" dirty="0">
                <a:solidFill>
                  <a:schemeClr val="accent1">
                    <a:lumMod val="50000"/>
                  </a:schemeClr>
                </a:solidFill>
                <a:hlinkClick r:id="rId12" action="ppaction://hlinksldjump">
                  <a:extLst>
                    <a:ext uri="{A12FA001-AC4F-418D-AE19-62706E023703}">
                      <ahyp:hlinkClr xmlns:ahyp="http://schemas.microsoft.com/office/drawing/2018/hyperlinkcolor" val="tx"/>
                    </a:ext>
                  </a:extLst>
                </a:hlinkClick>
              </a:rPr>
              <a:t>Conclusão</a:t>
            </a:r>
            <a:endParaRPr lang="pt-BR" b="1" dirty="0">
              <a:solidFill>
                <a:schemeClr val="accent1">
                  <a:lumMod val="50000"/>
                </a:schemeClr>
              </a:solidFill>
            </a:endParaRPr>
          </a:p>
        </p:txBody>
      </p:sp>
      <p:sp>
        <p:nvSpPr>
          <p:cNvPr id="4" name="Rectangle 3">
            <a:extLst>
              <a:ext uri="{FF2B5EF4-FFF2-40B4-BE49-F238E27FC236}">
                <a16:creationId xmlns:a16="http://schemas.microsoft.com/office/drawing/2014/main" id="{81BB9C5A-61B9-AF14-9D97-D89D16EE6654}"/>
              </a:ext>
            </a:extLst>
          </p:cNvPr>
          <p:cNvSpPr/>
          <p:nvPr/>
        </p:nvSpPr>
        <p:spPr>
          <a:xfrm flipH="1">
            <a:off x="563881" y="1063068"/>
            <a:ext cx="45720" cy="534535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82B2095-AB75-FB92-2EF3-F315479F213C}"/>
              </a:ext>
            </a:extLst>
          </p:cNvPr>
          <p:cNvSpPr txBox="1"/>
          <p:nvPr/>
        </p:nvSpPr>
        <p:spPr>
          <a:xfrm>
            <a:off x="793410" y="1127760"/>
            <a:ext cx="760144" cy="369332"/>
          </a:xfrm>
          <a:prstGeom prst="rect">
            <a:avLst/>
          </a:prstGeom>
          <a:noFill/>
        </p:spPr>
        <p:txBody>
          <a:bodyPr wrap="none" rtlCol="0">
            <a:spAutoFit/>
          </a:bodyPr>
          <a:lstStyle/>
          <a:p>
            <a:r>
              <a:rPr lang="pt-PT" b="1" i="1" dirty="0">
                <a:solidFill>
                  <a:schemeClr val="accent1">
                    <a:lumMod val="50000"/>
                  </a:schemeClr>
                </a:solidFill>
              </a:rPr>
              <a:t>Índice</a:t>
            </a:r>
            <a:endParaRPr lang="en-US" b="1" i="1" dirty="0">
              <a:solidFill>
                <a:schemeClr val="accent1">
                  <a:lumMod val="50000"/>
                </a:schemeClr>
              </a:solidFill>
            </a:endParaRPr>
          </a:p>
        </p:txBody>
      </p:sp>
    </p:spTree>
    <p:extLst>
      <p:ext uri="{BB962C8B-B14F-4D97-AF65-F5344CB8AC3E}">
        <p14:creationId xmlns:p14="http://schemas.microsoft.com/office/powerpoint/2010/main" val="10141499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FD131CC-A917-B802-70EA-18BD7314A264}"/>
              </a:ext>
            </a:extLst>
          </p:cNvPr>
          <p:cNvSpPr txBox="1"/>
          <p:nvPr/>
        </p:nvSpPr>
        <p:spPr>
          <a:xfrm>
            <a:off x="4723380" y="237034"/>
            <a:ext cx="2745239" cy="769441"/>
          </a:xfrm>
          <a:prstGeom prst="rect">
            <a:avLst/>
          </a:prstGeom>
          <a:noFill/>
        </p:spPr>
        <p:txBody>
          <a:bodyPr wrap="none" rtlCol="0">
            <a:spAutoFit/>
          </a:bodyPr>
          <a:lstStyle/>
          <a:p>
            <a:r>
              <a:rPr lang="pt-PT" sz="4400" b="1" dirty="0">
                <a:solidFill>
                  <a:schemeClr val="accent1">
                    <a:lumMod val="50000"/>
                  </a:schemeClr>
                </a:solidFill>
              </a:rPr>
              <a:t>Introdução</a:t>
            </a:r>
            <a:endParaRPr lang="en-US" sz="2400" b="1" dirty="0">
              <a:solidFill>
                <a:schemeClr val="accent1">
                  <a:lumMod val="50000"/>
                </a:schemeClr>
              </a:solidFill>
            </a:endParaRPr>
          </a:p>
        </p:txBody>
      </p:sp>
      <p:sp>
        <p:nvSpPr>
          <p:cNvPr id="3" name="Rectangle: Rounded Corners 2">
            <a:extLst>
              <a:ext uri="{FF2B5EF4-FFF2-40B4-BE49-F238E27FC236}">
                <a16:creationId xmlns:a16="http://schemas.microsoft.com/office/drawing/2014/main" id="{8D8AE1CE-79B5-4758-1A01-453FFE0A84D0}"/>
              </a:ext>
            </a:extLst>
          </p:cNvPr>
          <p:cNvSpPr/>
          <p:nvPr/>
        </p:nvSpPr>
        <p:spPr>
          <a:xfrm>
            <a:off x="947736" y="1146175"/>
            <a:ext cx="10296525" cy="4610100"/>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EDCD627D-0AB0-97BE-2AB0-5D6BCF138086}"/>
              </a:ext>
            </a:extLst>
          </p:cNvPr>
          <p:cNvSpPr/>
          <p:nvPr/>
        </p:nvSpPr>
        <p:spPr>
          <a:xfrm>
            <a:off x="947736" y="1241425"/>
            <a:ext cx="10296525" cy="46101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A1E1A133-56FE-8AC3-EF0D-4E806D40F76D}"/>
              </a:ext>
            </a:extLst>
          </p:cNvPr>
          <p:cNvSpPr txBox="1"/>
          <p:nvPr/>
        </p:nvSpPr>
        <p:spPr>
          <a:xfrm>
            <a:off x="2061208" y="1744980"/>
            <a:ext cx="8069579" cy="2585323"/>
          </a:xfrm>
          <a:prstGeom prst="rect">
            <a:avLst/>
          </a:prstGeom>
          <a:noFill/>
        </p:spPr>
        <p:txBody>
          <a:bodyPr wrap="square" rtlCol="0">
            <a:spAutoFit/>
          </a:bodyPr>
          <a:lstStyle/>
          <a:p>
            <a:pPr algn="just"/>
            <a:r>
              <a:rPr lang="pt-BR" dirty="0">
                <a:solidFill>
                  <a:schemeClr val="accent1">
                    <a:lumMod val="50000"/>
                  </a:schemeClr>
                </a:solidFill>
              </a:rPr>
              <a:t>A página inicial de um website representa o ponto crítico de interseção entre as expectativas do utilizador e a oferta da organização, funcionando simultaneamente como um cartão de visita e um centro de navegação. No contexto da usabilidade, a eficácia desta página não depende apenas da estética, mas sim da clareza com que comunica o seu propósito e da facilidade com que permite a execução de tarefas. Ao estruturar uma página inicial baseada em princípios de transparência de conteúdos e eficiência funcional, garantimos que o utilizador compreende imediatamente o valor do site e possui as ferramentas necessárias para interagir com ele de forma produtiva desde o primeiro segundo.</a:t>
            </a:r>
            <a:endParaRPr lang="en-US" dirty="0">
              <a:solidFill>
                <a:schemeClr val="accent1">
                  <a:lumMod val="50000"/>
                </a:schemeClr>
              </a:solidFill>
            </a:endParaRPr>
          </a:p>
        </p:txBody>
      </p:sp>
    </p:spTree>
    <p:extLst>
      <p:ext uri="{BB962C8B-B14F-4D97-AF65-F5344CB8AC3E}">
        <p14:creationId xmlns:p14="http://schemas.microsoft.com/office/powerpoint/2010/main" val="3780322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E9D6845-8525-8941-0AA3-B004489C4886}"/>
              </a:ext>
            </a:extLst>
          </p:cNvPr>
          <p:cNvSpPr/>
          <p:nvPr/>
        </p:nvSpPr>
        <p:spPr>
          <a:xfrm>
            <a:off x="0" y="0"/>
            <a:ext cx="12192000" cy="6858000"/>
          </a:xfrm>
          <a:prstGeom prst="rect">
            <a:avLst/>
          </a:prstGeom>
          <a:solidFill>
            <a:srgbClr val="8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7A6767E0-E839-FB1A-4A69-C73F5C0CADC6}"/>
              </a:ext>
            </a:extLst>
          </p:cNvPr>
          <p:cNvSpPr/>
          <p:nvPr/>
        </p:nvSpPr>
        <p:spPr>
          <a:xfrm>
            <a:off x="2603500" y="0"/>
            <a:ext cx="6985000" cy="6858000"/>
          </a:xfrm>
          <a:prstGeom prst="ellipse">
            <a:avLst/>
          </a:prstGeom>
          <a:solidFill>
            <a:srgbClr val="68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3A3E508-6728-C415-098D-B01FBB84C65C}"/>
              </a:ext>
            </a:extLst>
          </p:cNvPr>
          <p:cNvSpPr txBox="1"/>
          <p:nvPr/>
        </p:nvSpPr>
        <p:spPr>
          <a:xfrm>
            <a:off x="1918784" y="1843950"/>
            <a:ext cx="8354432" cy="2554545"/>
          </a:xfrm>
          <a:prstGeom prst="rect">
            <a:avLst/>
          </a:prstGeom>
          <a:noFill/>
        </p:spPr>
        <p:txBody>
          <a:bodyPr wrap="square" rtlCol="0">
            <a:spAutoFit/>
          </a:bodyPr>
          <a:lstStyle/>
          <a:p>
            <a:pPr algn="ctr"/>
            <a:r>
              <a:rPr lang="pt-PT" sz="6000" b="1" dirty="0">
                <a:solidFill>
                  <a:schemeClr val="bg1"/>
                </a:solidFill>
              </a:rPr>
              <a:t>“Revealing Content Through Examples”</a:t>
            </a:r>
          </a:p>
          <a:p>
            <a:pPr algn="ctr"/>
            <a:r>
              <a:rPr lang="pt-BR" sz="4000" dirty="0">
                <a:solidFill>
                  <a:schemeClr val="bg1"/>
                </a:solidFill>
              </a:rPr>
              <a:t>Revelar conteúdo através de exemplos</a:t>
            </a:r>
            <a:endParaRPr lang="en-US" sz="4000" dirty="0">
              <a:solidFill>
                <a:schemeClr val="bg1"/>
              </a:solidFill>
            </a:endParaRPr>
          </a:p>
        </p:txBody>
      </p:sp>
      <p:sp>
        <p:nvSpPr>
          <p:cNvPr id="6" name="Oval 5">
            <a:extLst>
              <a:ext uri="{FF2B5EF4-FFF2-40B4-BE49-F238E27FC236}">
                <a16:creationId xmlns:a16="http://schemas.microsoft.com/office/drawing/2014/main" id="{14F8CAD1-B98B-29D1-9128-8F75E5781B1E}"/>
              </a:ext>
            </a:extLst>
          </p:cNvPr>
          <p:cNvSpPr/>
          <p:nvPr/>
        </p:nvSpPr>
        <p:spPr>
          <a:xfrm>
            <a:off x="1600200" y="-1016000"/>
            <a:ext cx="8991600" cy="8889998"/>
          </a:xfrm>
          <a:prstGeom prst="ellipse">
            <a:avLst/>
          </a:prstGeom>
          <a:noFill/>
          <a:ln>
            <a:solidFill>
              <a:srgbClr val="6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C5D15E63-8FCE-5CCF-A66B-CDF3F58C2AEE}"/>
              </a:ext>
            </a:extLst>
          </p:cNvPr>
          <p:cNvSpPr/>
          <p:nvPr/>
        </p:nvSpPr>
        <p:spPr>
          <a:xfrm>
            <a:off x="114236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50C5A0B-28F9-CD59-9E09-F4ED366E3C80}"/>
              </a:ext>
            </a:extLst>
          </p:cNvPr>
          <p:cNvSpPr/>
          <p:nvPr/>
        </p:nvSpPr>
        <p:spPr>
          <a:xfrm>
            <a:off x="115824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96A08B3F-D17A-5B95-C116-9A2F039FF55B}"/>
              </a:ext>
            </a:extLst>
          </p:cNvPr>
          <p:cNvSpPr/>
          <p:nvPr/>
        </p:nvSpPr>
        <p:spPr>
          <a:xfrm>
            <a:off x="117411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055207A5-6A36-5D28-2090-B4838EB69323}"/>
              </a:ext>
            </a:extLst>
          </p:cNvPr>
          <p:cNvSpPr/>
          <p:nvPr/>
        </p:nvSpPr>
        <p:spPr>
          <a:xfrm>
            <a:off x="118999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553242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696601C-41AE-4B6F-ED01-DC276A0E2250}"/>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2D36F14-738B-F92C-8ACF-9FBF0DCC0F3F}"/>
              </a:ext>
            </a:extLst>
          </p:cNvPr>
          <p:cNvSpPr txBox="1"/>
          <p:nvPr/>
        </p:nvSpPr>
        <p:spPr>
          <a:xfrm>
            <a:off x="161925" y="138440"/>
            <a:ext cx="7093480" cy="523220"/>
          </a:xfrm>
          <a:prstGeom prst="rect">
            <a:avLst/>
          </a:prstGeom>
          <a:noFill/>
        </p:spPr>
        <p:txBody>
          <a:bodyPr wrap="none" rtlCol="0">
            <a:spAutoFit/>
          </a:bodyPr>
          <a:lstStyle/>
          <a:p>
            <a:r>
              <a:rPr lang="pt-BR" sz="2800" b="1" dirty="0">
                <a:solidFill>
                  <a:schemeClr val="bg1"/>
                </a:solidFill>
              </a:rPr>
              <a:t>Usar exemplos para revelar o conteúdo do site</a:t>
            </a:r>
            <a:endParaRPr lang="en-US" sz="2800" b="1" dirty="0">
              <a:solidFill>
                <a:schemeClr val="bg1"/>
              </a:solidFill>
            </a:endParaRPr>
          </a:p>
        </p:txBody>
      </p:sp>
      <p:sp>
        <p:nvSpPr>
          <p:cNvPr id="4" name="Oval 3">
            <a:extLst>
              <a:ext uri="{FF2B5EF4-FFF2-40B4-BE49-F238E27FC236}">
                <a16:creationId xmlns:a16="http://schemas.microsoft.com/office/drawing/2014/main" id="{C7336C2F-C0F6-F735-A0BB-5D3DB3CD777A}"/>
              </a:ext>
            </a:extLst>
          </p:cNvPr>
          <p:cNvSpPr/>
          <p:nvPr/>
        </p:nvSpPr>
        <p:spPr>
          <a:xfrm>
            <a:off x="11423650" y="6496050"/>
            <a:ext cx="114300" cy="1143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a:extLst>
              <a:ext uri="{FF2B5EF4-FFF2-40B4-BE49-F238E27FC236}">
                <a16:creationId xmlns:a16="http://schemas.microsoft.com/office/drawing/2014/main" id="{17436F48-DFB0-39CF-6497-A5E93E599AEC}"/>
              </a:ext>
            </a:extLst>
          </p:cNvPr>
          <p:cNvSpPr/>
          <p:nvPr/>
        </p:nvSpPr>
        <p:spPr>
          <a:xfrm>
            <a:off x="115824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2BB001FB-9DAE-5871-DBBC-63EEE66A4E30}"/>
              </a:ext>
            </a:extLst>
          </p:cNvPr>
          <p:cNvSpPr/>
          <p:nvPr/>
        </p:nvSpPr>
        <p:spPr>
          <a:xfrm>
            <a:off x="117411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40BCAE17-1DD6-A626-D3A6-65F20AF42A78}"/>
              </a:ext>
            </a:extLst>
          </p:cNvPr>
          <p:cNvSpPr/>
          <p:nvPr/>
        </p:nvSpPr>
        <p:spPr>
          <a:xfrm>
            <a:off x="118999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7B152DAF-DFBA-64AA-D5BB-EB1A31C9389C}"/>
              </a:ext>
            </a:extLst>
          </p:cNvPr>
          <p:cNvSpPr txBox="1"/>
          <p:nvPr/>
        </p:nvSpPr>
        <p:spPr>
          <a:xfrm>
            <a:off x="814068" y="2247177"/>
            <a:ext cx="4543424" cy="3046988"/>
          </a:xfrm>
          <a:prstGeom prst="rect">
            <a:avLst/>
          </a:prstGeom>
          <a:noFill/>
        </p:spPr>
        <p:txBody>
          <a:bodyPr wrap="square" rtlCol="0">
            <a:spAutoFit/>
          </a:bodyPr>
          <a:lstStyle/>
          <a:p>
            <a:pPr algn="just"/>
            <a:r>
              <a:rPr lang="pt-BR" sz="1600" dirty="0"/>
              <a:t>A homepage não se deve limitar apenas a listar nomes de categorias ou secções de forma abstrata. Em vez disso, deve mostrar diretamente amostras reais do conteúdo que existe dentro de cada área. Um rótulo genérico como </a:t>
            </a:r>
            <a:r>
              <a:rPr lang="pt-BR" sz="1400" b="1" i="1" dirty="0"/>
              <a:t>"Notícias" </a:t>
            </a:r>
            <a:r>
              <a:rPr lang="pt-BR" sz="1600" dirty="0"/>
              <a:t>ou </a:t>
            </a:r>
            <a:r>
              <a:rPr lang="pt-BR" sz="1400" b="1" i="1" dirty="0"/>
              <a:t>"Produtos em Destaque"</a:t>
            </a:r>
            <a:r>
              <a:rPr lang="pt-BR" sz="1600" dirty="0"/>
              <a:t> diz muito pouco ao utilizador. Não transmite qualidade, não revela profundidade e não desperta interesse. Quando se exibem exemplos concretos, o utilizador consegue perceber imediatamente o que o site oferece, avaliar se é relevante para as suas necessidades e decidir com mais confiança para onde navegar.</a:t>
            </a:r>
            <a:endParaRPr lang="en-US" sz="1600" dirty="0"/>
          </a:p>
        </p:txBody>
      </p:sp>
      <p:sp>
        <p:nvSpPr>
          <p:cNvPr id="10" name="Rectangle: Rounded Corners 9">
            <a:extLst>
              <a:ext uri="{FF2B5EF4-FFF2-40B4-BE49-F238E27FC236}">
                <a16:creationId xmlns:a16="http://schemas.microsoft.com/office/drawing/2014/main" id="{54A86669-4D54-7BA3-B1AA-EB01A24E5E2B}"/>
              </a:ext>
            </a:extLst>
          </p:cNvPr>
          <p:cNvSpPr/>
          <p:nvPr/>
        </p:nvSpPr>
        <p:spPr>
          <a:xfrm>
            <a:off x="6353175" y="1443841"/>
            <a:ext cx="5229225" cy="481408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C2D81EC3-B8BD-0816-4E57-08D0CA442683}"/>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Flowchart: Terminator 11">
            <a:extLst>
              <a:ext uri="{FF2B5EF4-FFF2-40B4-BE49-F238E27FC236}">
                <a16:creationId xmlns:a16="http://schemas.microsoft.com/office/drawing/2014/main" id="{65F870F3-E22C-2533-8165-F0822869F2F8}"/>
              </a:ext>
            </a:extLst>
          </p:cNvPr>
          <p:cNvSpPr/>
          <p:nvPr/>
        </p:nvSpPr>
        <p:spPr>
          <a:xfrm>
            <a:off x="8967786" y="1268232"/>
            <a:ext cx="1885951" cy="470282"/>
          </a:xfrm>
          <a:prstGeom prst="flowChartTerminator">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Mau </a:t>
            </a:r>
            <a:r>
              <a:rPr lang="en-US" dirty="0" err="1"/>
              <a:t>Exemplo</a:t>
            </a:r>
            <a:endParaRPr lang="en-US" dirty="0"/>
          </a:p>
        </p:txBody>
      </p:sp>
      <p:sp>
        <p:nvSpPr>
          <p:cNvPr id="13" name="TextBox 12">
            <a:extLst>
              <a:ext uri="{FF2B5EF4-FFF2-40B4-BE49-F238E27FC236}">
                <a16:creationId xmlns:a16="http://schemas.microsoft.com/office/drawing/2014/main" id="{8B4E17CB-A5F3-A4D0-90C7-7DD8164C321E}"/>
              </a:ext>
            </a:extLst>
          </p:cNvPr>
          <p:cNvSpPr txBox="1"/>
          <p:nvPr/>
        </p:nvSpPr>
        <p:spPr>
          <a:xfrm>
            <a:off x="6696075" y="2136475"/>
            <a:ext cx="4727575" cy="800219"/>
          </a:xfrm>
          <a:prstGeom prst="rect">
            <a:avLst/>
          </a:prstGeom>
          <a:noFill/>
        </p:spPr>
        <p:txBody>
          <a:bodyPr wrap="square" rtlCol="0">
            <a:spAutoFit/>
          </a:bodyPr>
          <a:lstStyle/>
          <a:p>
            <a:r>
              <a:rPr lang="en-US" b="1" dirty="0"/>
              <a:t>Craigslist </a:t>
            </a:r>
            <a:r>
              <a:rPr lang="en-US" sz="1200" dirty="0"/>
              <a:t>(craigslist.org)</a:t>
            </a:r>
          </a:p>
          <a:p>
            <a:r>
              <a:rPr lang="pt-BR" sz="1400" dirty="0"/>
              <a:t>Utiliza apenas listas de links textuais sem nenhuma dica visual ou exemplo do que será encontrado dentro das categorias.</a:t>
            </a:r>
            <a:endParaRPr lang="en-US" sz="1400" dirty="0"/>
          </a:p>
        </p:txBody>
      </p:sp>
      <p:pic>
        <p:nvPicPr>
          <p:cNvPr id="15" name="Picture 14">
            <a:extLst>
              <a:ext uri="{FF2B5EF4-FFF2-40B4-BE49-F238E27FC236}">
                <a16:creationId xmlns:a16="http://schemas.microsoft.com/office/drawing/2014/main" id="{1DCEA527-77BE-5F7F-BF27-A5429432584D}"/>
              </a:ext>
            </a:extLst>
          </p:cNvPr>
          <p:cNvPicPr>
            <a:picLocks noChangeAspect="1"/>
          </p:cNvPicPr>
          <p:nvPr/>
        </p:nvPicPr>
        <p:blipFill>
          <a:blip r:embed="rId2"/>
          <a:stretch>
            <a:fillRect/>
          </a:stretch>
        </p:blipFill>
        <p:spPr>
          <a:xfrm>
            <a:off x="7377110" y="3112303"/>
            <a:ext cx="3365504" cy="2524128"/>
          </a:xfrm>
          <a:prstGeom prst="rect">
            <a:avLst/>
          </a:prstGeom>
          <a:ln>
            <a:noFill/>
          </a:ln>
          <a:effectLst>
            <a:outerShdw blurRad="190500" algn="tl" rotWithShape="0">
              <a:srgbClr val="000000">
                <a:alpha val="70000"/>
              </a:srgbClr>
            </a:outerShdw>
          </a:effectLst>
        </p:spPr>
      </p:pic>
      <p:cxnSp>
        <p:nvCxnSpPr>
          <p:cNvPr id="17" name="Straight Arrow Connector 16">
            <a:extLst>
              <a:ext uri="{FF2B5EF4-FFF2-40B4-BE49-F238E27FC236}">
                <a16:creationId xmlns:a16="http://schemas.microsoft.com/office/drawing/2014/main" id="{FA0A9BD3-66DF-786E-52EC-8004D08E8800}"/>
              </a:ext>
            </a:extLst>
          </p:cNvPr>
          <p:cNvCxnSpPr>
            <a:cxnSpLocks/>
          </p:cNvCxnSpPr>
          <p:nvPr/>
        </p:nvCxnSpPr>
        <p:spPr>
          <a:xfrm flipV="1">
            <a:off x="7038235" y="3510265"/>
            <a:ext cx="436985" cy="45968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C6EDEA6-2A24-53F6-E1C3-2F7A6E3BEC9E}"/>
              </a:ext>
            </a:extLst>
          </p:cNvPr>
          <p:cNvCxnSpPr>
            <a:cxnSpLocks/>
          </p:cNvCxnSpPr>
          <p:nvPr/>
        </p:nvCxnSpPr>
        <p:spPr>
          <a:xfrm flipH="1">
            <a:off x="10393680" y="3620035"/>
            <a:ext cx="460057" cy="301272"/>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D9B5D79-0CAB-32DC-DF3B-85191984B99F}"/>
              </a:ext>
            </a:extLst>
          </p:cNvPr>
          <p:cNvCxnSpPr>
            <a:cxnSpLocks/>
          </p:cNvCxnSpPr>
          <p:nvPr/>
        </p:nvCxnSpPr>
        <p:spPr>
          <a:xfrm flipH="1" flipV="1">
            <a:off x="8814222" y="5414159"/>
            <a:ext cx="497418" cy="498961"/>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66B4B1DF-9A69-ABC4-10FA-D7592A0381A3}"/>
              </a:ext>
            </a:extLst>
          </p:cNvPr>
          <p:cNvSpPr/>
          <p:nvPr/>
        </p:nvSpPr>
        <p:spPr>
          <a:xfrm>
            <a:off x="563881" y="2327987"/>
            <a:ext cx="45719" cy="2815514"/>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17814145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60044628-BFFE-C509-8BA0-B689DB479B96}"/>
              </a:ext>
            </a:extLst>
          </p:cNvPr>
          <p:cNvSpPr/>
          <p:nvPr/>
        </p:nvSpPr>
        <p:spPr>
          <a:xfrm>
            <a:off x="6353175" y="1443841"/>
            <a:ext cx="5229225" cy="481408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5E46E8F9-7C87-06C3-9B06-E7B45762EAEA}"/>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Terminator 3">
            <a:extLst>
              <a:ext uri="{FF2B5EF4-FFF2-40B4-BE49-F238E27FC236}">
                <a16:creationId xmlns:a16="http://schemas.microsoft.com/office/drawing/2014/main" id="{97DA2FB2-E07E-1E26-A6AC-CA68C9B7F09B}"/>
              </a:ext>
            </a:extLst>
          </p:cNvPr>
          <p:cNvSpPr/>
          <p:nvPr/>
        </p:nvSpPr>
        <p:spPr>
          <a:xfrm>
            <a:off x="8967786" y="1268232"/>
            <a:ext cx="1885951" cy="470282"/>
          </a:xfrm>
          <a:prstGeom prst="flowChartTerminator">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Mau </a:t>
            </a:r>
            <a:r>
              <a:rPr lang="en-US" dirty="0" err="1"/>
              <a:t>Exemplo</a:t>
            </a:r>
            <a:endParaRPr lang="en-US" dirty="0"/>
          </a:p>
        </p:txBody>
      </p:sp>
      <p:sp>
        <p:nvSpPr>
          <p:cNvPr id="5" name="Rectangle 4">
            <a:extLst>
              <a:ext uri="{FF2B5EF4-FFF2-40B4-BE49-F238E27FC236}">
                <a16:creationId xmlns:a16="http://schemas.microsoft.com/office/drawing/2014/main" id="{21572169-33B1-37E0-301F-08925EEBCD31}"/>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a:extLst>
              <a:ext uri="{FF2B5EF4-FFF2-40B4-BE49-F238E27FC236}">
                <a16:creationId xmlns:a16="http://schemas.microsoft.com/office/drawing/2014/main" id="{48384CD3-4799-9DE1-3BDF-3102C977135C}"/>
              </a:ext>
            </a:extLst>
          </p:cNvPr>
          <p:cNvSpPr/>
          <p:nvPr/>
        </p:nvSpPr>
        <p:spPr>
          <a:xfrm>
            <a:off x="114236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A22F16AB-BE32-3034-BCB1-EB0D2BDB3C17}"/>
              </a:ext>
            </a:extLst>
          </p:cNvPr>
          <p:cNvSpPr/>
          <p:nvPr/>
        </p:nvSpPr>
        <p:spPr>
          <a:xfrm>
            <a:off x="11582400" y="6496050"/>
            <a:ext cx="114300" cy="1143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107555EA-DE84-2166-4883-4034E2D45E6C}"/>
              </a:ext>
            </a:extLst>
          </p:cNvPr>
          <p:cNvSpPr/>
          <p:nvPr/>
        </p:nvSpPr>
        <p:spPr>
          <a:xfrm>
            <a:off x="117411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0BC12FAB-4153-314D-4D51-87548358291E}"/>
              </a:ext>
            </a:extLst>
          </p:cNvPr>
          <p:cNvSpPr/>
          <p:nvPr/>
        </p:nvSpPr>
        <p:spPr>
          <a:xfrm>
            <a:off x="118999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BDB6721C-809F-C45C-E5E1-8F9BF8519289}"/>
              </a:ext>
            </a:extLst>
          </p:cNvPr>
          <p:cNvSpPr txBox="1"/>
          <p:nvPr/>
        </p:nvSpPr>
        <p:spPr>
          <a:xfrm>
            <a:off x="161925" y="138440"/>
            <a:ext cx="10979801" cy="523220"/>
          </a:xfrm>
          <a:prstGeom prst="rect">
            <a:avLst/>
          </a:prstGeom>
          <a:noFill/>
        </p:spPr>
        <p:txBody>
          <a:bodyPr wrap="none" rtlCol="0">
            <a:spAutoFit/>
          </a:bodyPr>
          <a:lstStyle/>
          <a:p>
            <a:r>
              <a:rPr lang="pt-BR" sz="2800" b="1" dirty="0">
                <a:solidFill>
                  <a:schemeClr val="bg1"/>
                </a:solidFill>
              </a:rPr>
              <a:t>Cada exemplo deve ter um link que leve diretamente à página detalhada</a:t>
            </a:r>
            <a:endParaRPr lang="en-US" sz="4000" b="1" dirty="0">
              <a:solidFill>
                <a:schemeClr val="bg1"/>
              </a:solidFill>
            </a:endParaRPr>
          </a:p>
        </p:txBody>
      </p:sp>
      <p:sp>
        <p:nvSpPr>
          <p:cNvPr id="11" name="TextBox 10">
            <a:extLst>
              <a:ext uri="{FF2B5EF4-FFF2-40B4-BE49-F238E27FC236}">
                <a16:creationId xmlns:a16="http://schemas.microsoft.com/office/drawing/2014/main" id="{B8C30B15-5864-A710-0CD7-0CF45C599123}"/>
              </a:ext>
            </a:extLst>
          </p:cNvPr>
          <p:cNvSpPr txBox="1"/>
          <p:nvPr/>
        </p:nvSpPr>
        <p:spPr>
          <a:xfrm>
            <a:off x="737868" y="2581582"/>
            <a:ext cx="4543424" cy="2308324"/>
          </a:xfrm>
          <a:prstGeom prst="rect">
            <a:avLst/>
          </a:prstGeom>
          <a:noFill/>
        </p:spPr>
        <p:txBody>
          <a:bodyPr wrap="square" rtlCol="0">
            <a:spAutoFit/>
          </a:bodyPr>
          <a:lstStyle/>
          <a:p>
            <a:pPr algn="just"/>
            <a:r>
              <a:rPr lang="pt-BR" sz="1600" dirty="0"/>
              <a:t>Quando a homepage apresenta um exemplo específico, o link associado a esse exemplo deve conduzir diretamente à página detalhada desse item em concreto, e não a uma página de categoria geral. Obrigar o utilizador a reencontrar algo que já viu na homepage é algo   desnecessário e uma fonte de frustração. Se o utilizador viu algo que lhe despertou interesse e clicou, espera chegar imediatamente a mais informação sobre esse item específico.</a:t>
            </a:r>
            <a:endParaRPr lang="en-US" sz="1600" dirty="0"/>
          </a:p>
        </p:txBody>
      </p:sp>
      <p:sp>
        <p:nvSpPr>
          <p:cNvPr id="12" name="Rectangle 11">
            <a:extLst>
              <a:ext uri="{FF2B5EF4-FFF2-40B4-BE49-F238E27FC236}">
                <a16:creationId xmlns:a16="http://schemas.microsoft.com/office/drawing/2014/main" id="{ED746AE0-B4C8-C39D-1914-6C86D2D41CA7}"/>
              </a:ext>
            </a:extLst>
          </p:cNvPr>
          <p:cNvSpPr/>
          <p:nvPr/>
        </p:nvSpPr>
        <p:spPr>
          <a:xfrm>
            <a:off x="563881" y="2688262"/>
            <a:ext cx="45719" cy="209709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a:extLst>
              <a:ext uri="{FF2B5EF4-FFF2-40B4-BE49-F238E27FC236}">
                <a16:creationId xmlns:a16="http://schemas.microsoft.com/office/drawing/2014/main" id="{AC650F41-BEE3-4F29-E3C2-6650C95B064C}"/>
              </a:ext>
            </a:extLst>
          </p:cNvPr>
          <p:cNvPicPr>
            <a:picLocks noChangeAspect="1"/>
          </p:cNvPicPr>
          <p:nvPr/>
        </p:nvPicPr>
        <p:blipFill>
          <a:blip r:embed="rId2"/>
          <a:stretch>
            <a:fillRect/>
          </a:stretch>
        </p:blipFill>
        <p:spPr>
          <a:xfrm>
            <a:off x="6669954" y="3429000"/>
            <a:ext cx="2128692" cy="2156058"/>
          </a:xfrm>
          <a:prstGeom prst="rect">
            <a:avLst/>
          </a:prstGeom>
          <a:ln>
            <a:noFill/>
          </a:ln>
          <a:effectLst>
            <a:outerShdw blurRad="190500" algn="tl" rotWithShape="0">
              <a:srgbClr val="000000">
                <a:alpha val="70000"/>
              </a:srgbClr>
            </a:outerShdw>
          </a:effectLst>
        </p:spPr>
      </p:pic>
      <p:pic>
        <p:nvPicPr>
          <p:cNvPr id="20" name="Picture 19">
            <a:extLst>
              <a:ext uri="{FF2B5EF4-FFF2-40B4-BE49-F238E27FC236}">
                <a16:creationId xmlns:a16="http://schemas.microsoft.com/office/drawing/2014/main" id="{7ABE5CBB-A902-76A8-872D-24682498C666}"/>
              </a:ext>
            </a:extLst>
          </p:cNvPr>
          <p:cNvPicPr>
            <a:picLocks noChangeAspect="1"/>
          </p:cNvPicPr>
          <p:nvPr/>
        </p:nvPicPr>
        <p:blipFill>
          <a:blip r:embed="rId3"/>
          <a:stretch>
            <a:fillRect/>
          </a:stretch>
        </p:blipFill>
        <p:spPr>
          <a:xfrm>
            <a:off x="9089863" y="3288443"/>
            <a:ext cx="2201318" cy="2437172"/>
          </a:xfrm>
          <a:prstGeom prst="rect">
            <a:avLst/>
          </a:prstGeom>
          <a:ln>
            <a:noFill/>
          </a:ln>
          <a:effectLst>
            <a:outerShdw blurRad="190500" algn="tl" rotWithShape="0">
              <a:srgbClr val="000000">
                <a:alpha val="70000"/>
              </a:srgbClr>
            </a:outerShdw>
          </a:effectLst>
        </p:spPr>
      </p:pic>
      <p:sp>
        <p:nvSpPr>
          <p:cNvPr id="22" name="TextBox 21">
            <a:extLst>
              <a:ext uri="{FF2B5EF4-FFF2-40B4-BE49-F238E27FC236}">
                <a16:creationId xmlns:a16="http://schemas.microsoft.com/office/drawing/2014/main" id="{BC6B3CAB-B1E3-1D79-67BB-5938705E7970}"/>
              </a:ext>
            </a:extLst>
          </p:cNvPr>
          <p:cNvSpPr txBox="1"/>
          <p:nvPr/>
        </p:nvSpPr>
        <p:spPr>
          <a:xfrm>
            <a:off x="6696075" y="2136475"/>
            <a:ext cx="4727575" cy="1015663"/>
          </a:xfrm>
          <a:prstGeom prst="rect">
            <a:avLst/>
          </a:prstGeom>
          <a:noFill/>
        </p:spPr>
        <p:txBody>
          <a:bodyPr wrap="square" rtlCol="0">
            <a:spAutoFit/>
          </a:bodyPr>
          <a:lstStyle/>
          <a:p>
            <a:r>
              <a:rPr lang="en-US" b="1" dirty="0"/>
              <a:t>H&amp;M </a:t>
            </a:r>
            <a:r>
              <a:rPr lang="en-US" sz="1200" dirty="0"/>
              <a:t>(hm.com)</a:t>
            </a:r>
          </a:p>
          <a:p>
            <a:r>
              <a:rPr lang="pt-BR" sz="1400" dirty="0"/>
              <a:t>Banners promocionais que mostram uma peça específica, mas o clique leva para a categoria "Novidades" ou "Verão", onde o usuário precisa encontrar a peça.</a:t>
            </a:r>
            <a:endParaRPr lang="en-US" sz="1100" dirty="0"/>
          </a:p>
        </p:txBody>
      </p:sp>
      <p:cxnSp>
        <p:nvCxnSpPr>
          <p:cNvPr id="24" name="Connector: Curved 23">
            <a:extLst>
              <a:ext uri="{FF2B5EF4-FFF2-40B4-BE49-F238E27FC236}">
                <a16:creationId xmlns:a16="http://schemas.microsoft.com/office/drawing/2014/main" id="{8424A361-F7F2-8D9F-088A-D79536C3550D}"/>
              </a:ext>
            </a:extLst>
          </p:cNvPr>
          <p:cNvCxnSpPr>
            <a:cxnSpLocks/>
          </p:cNvCxnSpPr>
          <p:nvPr/>
        </p:nvCxnSpPr>
        <p:spPr>
          <a:xfrm>
            <a:off x="7947660" y="4373880"/>
            <a:ext cx="1501140" cy="516026"/>
          </a:xfrm>
          <a:prstGeom prst="curvedConnector3">
            <a:avLst>
              <a:gd name="adj1" fmla="val 50000"/>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739419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Rounded Corners 1">
            <a:extLst>
              <a:ext uri="{FF2B5EF4-FFF2-40B4-BE49-F238E27FC236}">
                <a16:creationId xmlns:a16="http://schemas.microsoft.com/office/drawing/2014/main" id="{85856054-0855-9842-65E7-936A742339D0}"/>
              </a:ext>
            </a:extLst>
          </p:cNvPr>
          <p:cNvSpPr/>
          <p:nvPr/>
        </p:nvSpPr>
        <p:spPr>
          <a:xfrm>
            <a:off x="6353175" y="1443841"/>
            <a:ext cx="5229225" cy="481408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Rounded Corners 2">
            <a:extLst>
              <a:ext uri="{FF2B5EF4-FFF2-40B4-BE49-F238E27FC236}">
                <a16:creationId xmlns:a16="http://schemas.microsoft.com/office/drawing/2014/main" id="{983D9030-C51E-71A8-1AEF-BD1EC747AFE5}"/>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lowchart: Terminator 3">
            <a:extLst>
              <a:ext uri="{FF2B5EF4-FFF2-40B4-BE49-F238E27FC236}">
                <a16:creationId xmlns:a16="http://schemas.microsoft.com/office/drawing/2014/main" id="{10B5F19C-E17F-A6F4-9E88-96B150F66551}"/>
              </a:ext>
            </a:extLst>
          </p:cNvPr>
          <p:cNvSpPr/>
          <p:nvPr/>
        </p:nvSpPr>
        <p:spPr>
          <a:xfrm>
            <a:off x="8967786" y="1268232"/>
            <a:ext cx="1885951" cy="470282"/>
          </a:xfrm>
          <a:prstGeom prst="flowChartTerminator">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Bom </a:t>
            </a:r>
            <a:r>
              <a:rPr lang="en-US" dirty="0" err="1"/>
              <a:t>exemplo</a:t>
            </a:r>
            <a:endParaRPr lang="en-US" dirty="0"/>
          </a:p>
        </p:txBody>
      </p:sp>
      <p:sp>
        <p:nvSpPr>
          <p:cNvPr id="5" name="Rectangle 4">
            <a:extLst>
              <a:ext uri="{FF2B5EF4-FFF2-40B4-BE49-F238E27FC236}">
                <a16:creationId xmlns:a16="http://schemas.microsoft.com/office/drawing/2014/main" id="{11CD3FBB-EAB6-4DFF-71BC-E44ED61494B7}"/>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a:extLst>
              <a:ext uri="{FF2B5EF4-FFF2-40B4-BE49-F238E27FC236}">
                <a16:creationId xmlns:a16="http://schemas.microsoft.com/office/drawing/2014/main" id="{57A2E122-6119-6D5B-EC3F-7505720793EA}"/>
              </a:ext>
            </a:extLst>
          </p:cNvPr>
          <p:cNvSpPr txBox="1"/>
          <p:nvPr/>
        </p:nvSpPr>
        <p:spPr>
          <a:xfrm>
            <a:off x="161925" y="138440"/>
            <a:ext cx="11336373" cy="523220"/>
          </a:xfrm>
          <a:prstGeom prst="rect">
            <a:avLst/>
          </a:prstGeom>
          <a:noFill/>
        </p:spPr>
        <p:txBody>
          <a:bodyPr wrap="none" rtlCol="0">
            <a:spAutoFit/>
          </a:bodyPr>
          <a:lstStyle/>
          <a:p>
            <a:r>
              <a:rPr lang="pt-BR" sz="2800" b="1" dirty="0">
                <a:solidFill>
                  <a:schemeClr val="bg1"/>
                </a:solidFill>
              </a:rPr>
              <a:t>Fornecer um link para a categoria mais geral ao lado do exemplo específico</a:t>
            </a:r>
            <a:endParaRPr lang="en-US" sz="4000" b="1" dirty="0">
              <a:solidFill>
                <a:schemeClr val="bg1"/>
              </a:solidFill>
            </a:endParaRPr>
          </a:p>
        </p:txBody>
      </p:sp>
      <p:sp>
        <p:nvSpPr>
          <p:cNvPr id="7" name="Oval 6">
            <a:extLst>
              <a:ext uri="{FF2B5EF4-FFF2-40B4-BE49-F238E27FC236}">
                <a16:creationId xmlns:a16="http://schemas.microsoft.com/office/drawing/2014/main" id="{AB6B5D0A-56A0-8E9D-E9CF-83052A77112C}"/>
              </a:ext>
            </a:extLst>
          </p:cNvPr>
          <p:cNvSpPr/>
          <p:nvPr/>
        </p:nvSpPr>
        <p:spPr>
          <a:xfrm>
            <a:off x="114236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936FFCBF-D1CE-5A27-A2DF-2AB0F2B04FB9}"/>
              </a:ext>
            </a:extLst>
          </p:cNvPr>
          <p:cNvSpPr/>
          <p:nvPr/>
        </p:nvSpPr>
        <p:spPr>
          <a:xfrm>
            <a:off x="115824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F0DD3B2-2EF0-FD4A-E0FE-7927AF89ED2C}"/>
              </a:ext>
            </a:extLst>
          </p:cNvPr>
          <p:cNvSpPr/>
          <p:nvPr/>
        </p:nvSpPr>
        <p:spPr>
          <a:xfrm>
            <a:off x="11741150" y="6496050"/>
            <a:ext cx="114300" cy="114300"/>
          </a:xfrm>
          <a:prstGeom prst="ellipse">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C8E20C23-FF7D-0AB8-FEF3-6459D4DBC37D}"/>
              </a:ext>
            </a:extLst>
          </p:cNvPr>
          <p:cNvSpPr/>
          <p:nvPr/>
        </p:nvSpPr>
        <p:spPr>
          <a:xfrm>
            <a:off x="118999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557A4BC9-4305-2C7E-6EE2-207973B2AB79}"/>
              </a:ext>
            </a:extLst>
          </p:cNvPr>
          <p:cNvSpPr txBox="1"/>
          <p:nvPr/>
        </p:nvSpPr>
        <p:spPr>
          <a:xfrm>
            <a:off x="737868" y="2581582"/>
            <a:ext cx="4543424" cy="2308324"/>
          </a:xfrm>
          <a:prstGeom prst="rect">
            <a:avLst/>
          </a:prstGeom>
          <a:noFill/>
        </p:spPr>
        <p:txBody>
          <a:bodyPr wrap="square" rtlCol="0">
            <a:spAutoFit/>
          </a:bodyPr>
          <a:lstStyle/>
          <a:p>
            <a:pPr algn="just"/>
            <a:r>
              <a:rPr lang="pt-BR" sz="1600" dirty="0"/>
              <a:t>Sempre que se destaca um exemplo individual na homepage, deve existir igualmente um link adjacente para a categoria mais ampla a que esse exemplo pertence. Sem esse link, os utilizadores podem facilmente assumir que o que está em destaque é tudo o que o site tem para oferecer nessa área, subestimando drasticamente a oferta real. Isto pode levar ao utilizador abandonar o site por pensar que não encontra aquilo que procura.</a:t>
            </a:r>
            <a:endParaRPr lang="en-US" sz="1600" dirty="0"/>
          </a:p>
        </p:txBody>
      </p:sp>
      <p:sp>
        <p:nvSpPr>
          <p:cNvPr id="12" name="Rectangle 11">
            <a:extLst>
              <a:ext uri="{FF2B5EF4-FFF2-40B4-BE49-F238E27FC236}">
                <a16:creationId xmlns:a16="http://schemas.microsoft.com/office/drawing/2014/main" id="{A89DA55A-CCA4-C059-6F69-57E559B489A9}"/>
              </a:ext>
            </a:extLst>
          </p:cNvPr>
          <p:cNvSpPr/>
          <p:nvPr/>
        </p:nvSpPr>
        <p:spPr>
          <a:xfrm>
            <a:off x="563881" y="2688262"/>
            <a:ext cx="45719" cy="2097098"/>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48C6C33E-CFF7-9E91-8D56-792F516366B8}"/>
              </a:ext>
            </a:extLst>
          </p:cNvPr>
          <p:cNvPicPr>
            <a:picLocks noChangeAspect="1"/>
          </p:cNvPicPr>
          <p:nvPr/>
        </p:nvPicPr>
        <p:blipFill>
          <a:blip r:embed="rId2"/>
          <a:stretch>
            <a:fillRect/>
          </a:stretch>
        </p:blipFill>
        <p:spPr>
          <a:xfrm>
            <a:off x="6589737" y="3475919"/>
            <a:ext cx="4756098" cy="1934046"/>
          </a:xfrm>
          <a:prstGeom prst="rect">
            <a:avLst/>
          </a:prstGeom>
          <a:ln>
            <a:noFill/>
          </a:ln>
          <a:effectLst>
            <a:outerShdw blurRad="190500" algn="tl" rotWithShape="0">
              <a:srgbClr val="000000">
                <a:alpha val="70000"/>
              </a:srgbClr>
            </a:outerShdw>
          </a:effectLst>
        </p:spPr>
      </p:pic>
      <p:sp>
        <p:nvSpPr>
          <p:cNvPr id="17" name="TextBox 16">
            <a:extLst>
              <a:ext uri="{FF2B5EF4-FFF2-40B4-BE49-F238E27FC236}">
                <a16:creationId xmlns:a16="http://schemas.microsoft.com/office/drawing/2014/main" id="{DC427C7E-C9E1-D7E5-9BDE-F10C05549861}"/>
              </a:ext>
            </a:extLst>
          </p:cNvPr>
          <p:cNvSpPr txBox="1"/>
          <p:nvPr/>
        </p:nvSpPr>
        <p:spPr>
          <a:xfrm>
            <a:off x="6696075" y="2136475"/>
            <a:ext cx="4727575" cy="1015663"/>
          </a:xfrm>
          <a:prstGeom prst="rect">
            <a:avLst/>
          </a:prstGeom>
          <a:noFill/>
        </p:spPr>
        <p:txBody>
          <a:bodyPr wrap="square" rtlCol="0">
            <a:spAutoFit/>
          </a:bodyPr>
          <a:lstStyle/>
          <a:p>
            <a:r>
              <a:rPr lang="en-US" b="1" dirty="0"/>
              <a:t>Decathlon </a:t>
            </a:r>
            <a:r>
              <a:rPr lang="en-US" sz="1200" dirty="0"/>
              <a:t>(decathlon.com)</a:t>
            </a:r>
          </a:p>
          <a:p>
            <a:r>
              <a:rPr lang="pt-BR" sz="1400" dirty="0"/>
              <a:t>Exibe destaques de equipamentos desportivos, sempre acompanhados por um botão “Ver tudo” ao lado dos produtos.</a:t>
            </a:r>
            <a:endParaRPr lang="en-US" sz="1000" dirty="0"/>
          </a:p>
        </p:txBody>
      </p:sp>
      <p:cxnSp>
        <p:nvCxnSpPr>
          <p:cNvPr id="19" name="Straight Arrow Connector 18">
            <a:extLst>
              <a:ext uri="{FF2B5EF4-FFF2-40B4-BE49-F238E27FC236}">
                <a16:creationId xmlns:a16="http://schemas.microsoft.com/office/drawing/2014/main" id="{D37BB6C0-A6A7-99BF-2E7F-9B333402F98B}"/>
              </a:ext>
            </a:extLst>
          </p:cNvPr>
          <p:cNvCxnSpPr/>
          <p:nvPr/>
        </p:nvCxnSpPr>
        <p:spPr>
          <a:xfrm flipH="1">
            <a:off x="10149840" y="3322320"/>
            <a:ext cx="703897" cy="413424"/>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320626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150E9-DDEA-70CF-4C32-16C97724DF1D}"/>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12A4B13-CEF8-16B5-F845-279635DEAF81}"/>
              </a:ext>
            </a:extLst>
          </p:cNvPr>
          <p:cNvSpPr txBox="1"/>
          <p:nvPr/>
        </p:nvSpPr>
        <p:spPr>
          <a:xfrm>
            <a:off x="161925" y="138440"/>
            <a:ext cx="10891700" cy="523220"/>
          </a:xfrm>
          <a:prstGeom prst="rect">
            <a:avLst/>
          </a:prstGeom>
          <a:noFill/>
        </p:spPr>
        <p:txBody>
          <a:bodyPr wrap="none" rtlCol="0">
            <a:spAutoFit/>
          </a:bodyPr>
          <a:lstStyle/>
          <a:p>
            <a:r>
              <a:rPr lang="pt-BR" sz="2800" b="1" dirty="0">
                <a:solidFill>
                  <a:schemeClr val="bg1"/>
                </a:solidFill>
              </a:rPr>
              <a:t>Facilitar distinção visual entre os links de exemplo dos links de categoria</a:t>
            </a:r>
            <a:endParaRPr lang="en-US" sz="5400" b="1" dirty="0">
              <a:solidFill>
                <a:schemeClr val="bg1"/>
              </a:solidFill>
            </a:endParaRPr>
          </a:p>
        </p:txBody>
      </p:sp>
      <p:sp>
        <p:nvSpPr>
          <p:cNvPr id="4" name="Rectangle: Rounded Corners 3">
            <a:extLst>
              <a:ext uri="{FF2B5EF4-FFF2-40B4-BE49-F238E27FC236}">
                <a16:creationId xmlns:a16="http://schemas.microsoft.com/office/drawing/2014/main" id="{88ACC41F-30D1-9BA1-BFB6-4AB5ABA6F9C6}"/>
              </a:ext>
            </a:extLst>
          </p:cNvPr>
          <p:cNvSpPr/>
          <p:nvPr/>
        </p:nvSpPr>
        <p:spPr>
          <a:xfrm>
            <a:off x="6353175" y="1443841"/>
            <a:ext cx="5229225" cy="481408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BF4D2E40-D790-BE3A-007F-EC2B2950EA7A}"/>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Terminator 5">
            <a:extLst>
              <a:ext uri="{FF2B5EF4-FFF2-40B4-BE49-F238E27FC236}">
                <a16:creationId xmlns:a16="http://schemas.microsoft.com/office/drawing/2014/main" id="{E25CE02A-0BCF-23DF-6CC9-7B19659D343D}"/>
              </a:ext>
            </a:extLst>
          </p:cNvPr>
          <p:cNvSpPr/>
          <p:nvPr/>
        </p:nvSpPr>
        <p:spPr>
          <a:xfrm>
            <a:off x="8967786" y="1268232"/>
            <a:ext cx="1885951" cy="470282"/>
          </a:xfrm>
          <a:prstGeom prst="flowChartTerminator">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Bom </a:t>
            </a:r>
            <a:r>
              <a:rPr lang="en-US" dirty="0" err="1"/>
              <a:t>exemplo</a:t>
            </a:r>
            <a:endParaRPr lang="en-US" dirty="0"/>
          </a:p>
        </p:txBody>
      </p:sp>
      <p:sp>
        <p:nvSpPr>
          <p:cNvPr id="7" name="TextBox 6">
            <a:extLst>
              <a:ext uri="{FF2B5EF4-FFF2-40B4-BE49-F238E27FC236}">
                <a16:creationId xmlns:a16="http://schemas.microsoft.com/office/drawing/2014/main" id="{B3CAB37D-62B4-29D0-AE97-75B8B4ECFDBA}"/>
              </a:ext>
            </a:extLst>
          </p:cNvPr>
          <p:cNvSpPr txBox="1"/>
          <p:nvPr/>
        </p:nvSpPr>
        <p:spPr>
          <a:xfrm>
            <a:off x="6696075" y="2136475"/>
            <a:ext cx="4727575" cy="1446550"/>
          </a:xfrm>
          <a:prstGeom prst="rect">
            <a:avLst/>
          </a:prstGeom>
          <a:noFill/>
        </p:spPr>
        <p:txBody>
          <a:bodyPr wrap="square" rtlCol="0">
            <a:spAutoFit/>
          </a:bodyPr>
          <a:lstStyle/>
          <a:p>
            <a:r>
              <a:rPr lang="en-US" b="1" dirty="0"/>
              <a:t>Airbnb </a:t>
            </a:r>
            <a:r>
              <a:rPr lang="en-US" sz="1200" dirty="0"/>
              <a:t>(airbnb.pt)</a:t>
            </a:r>
          </a:p>
          <a:p>
            <a:r>
              <a:rPr lang="pt-PT" sz="1200" dirty="0"/>
              <a:t>Contém um clara distinção entre categorias ( Ex.: “Hotéis em destaque em Paris” ) através do texto a negrito e da hierarquia, estando posicionadas em cima dos exemplos específicos com um pequeno espaçamento em branco.</a:t>
            </a:r>
            <a:endParaRPr lang="en-US" sz="900" dirty="0"/>
          </a:p>
          <a:p>
            <a:endParaRPr lang="en-US" sz="1200" dirty="0"/>
          </a:p>
          <a:p>
            <a:endParaRPr lang="en-US" sz="1000" dirty="0"/>
          </a:p>
        </p:txBody>
      </p:sp>
      <p:pic>
        <p:nvPicPr>
          <p:cNvPr id="9" name="Picture 8">
            <a:extLst>
              <a:ext uri="{FF2B5EF4-FFF2-40B4-BE49-F238E27FC236}">
                <a16:creationId xmlns:a16="http://schemas.microsoft.com/office/drawing/2014/main" id="{A637DDBD-1101-6C4A-6B36-1BC1FB4996C8}"/>
              </a:ext>
            </a:extLst>
          </p:cNvPr>
          <p:cNvPicPr>
            <a:picLocks noChangeAspect="1"/>
          </p:cNvPicPr>
          <p:nvPr/>
        </p:nvPicPr>
        <p:blipFill>
          <a:blip r:embed="rId2"/>
          <a:stretch>
            <a:fillRect/>
          </a:stretch>
        </p:blipFill>
        <p:spPr>
          <a:xfrm>
            <a:off x="6422706" y="3488077"/>
            <a:ext cx="5090160" cy="2101691"/>
          </a:xfrm>
          <a:prstGeom prst="rect">
            <a:avLst/>
          </a:prstGeom>
          <a:ln>
            <a:noFill/>
          </a:ln>
          <a:effectLst>
            <a:outerShdw blurRad="190500" algn="tl" rotWithShape="0">
              <a:srgbClr val="000000">
                <a:alpha val="70000"/>
              </a:srgbClr>
            </a:outerShdw>
          </a:effectLst>
        </p:spPr>
      </p:pic>
      <p:sp>
        <p:nvSpPr>
          <p:cNvPr id="10" name="TextBox 9">
            <a:extLst>
              <a:ext uri="{FF2B5EF4-FFF2-40B4-BE49-F238E27FC236}">
                <a16:creationId xmlns:a16="http://schemas.microsoft.com/office/drawing/2014/main" id="{2319BC7F-7FC1-74D1-EBC9-E0CC0CD367BE}"/>
              </a:ext>
            </a:extLst>
          </p:cNvPr>
          <p:cNvSpPr txBox="1"/>
          <p:nvPr/>
        </p:nvSpPr>
        <p:spPr>
          <a:xfrm>
            <a:off x="768350" y="2004223"/>
            <a:ext cx="4543424" cy="3416320"/>
          </a:xfrm>
          <a:prstGeom prst="rect">
            <a:avLst/>
          </a:prstGeom>
          <a:noFill/>
        </p:spPr>
        <p:txBody>
          <a:bodyPr wrap="square" rtlCol="0">
            <a:spAutoFit/>
          </a:bodyPr>
          <a:lstStyle/>
          <a:p>
            <a:pPr algn="just"/>
            <a:r>
              <a:rPr lang="pt-BR" dirty="0"/>
              <a:t>Numa homepage que combina exemplos específicos com ligações para categorias gerais, é fundamental que o utilizador consiga perceber, à primeira vista, qual o link que aprofunda o exemplo e qual o que o leva para a categoria completa. Esta distinção deve ser feita tanto através do texto dos links, como através da posição e hierarquia visual da página. O link de exemplo deve estar próximo do item a que se refere, enquanto que o link para a categoria deve estar separado por espaço ou por uma hierarquia visual diferente. </a:t>
            </a:r>
            <a:endParaRPr lang="en-US" sz="1600" dirty="0"/>
          </a:p>
        </p:txBody>
      </p:sp>
      <p:sp>
        <p:nvSpPr>
          <p:cNvPr id="11" name="Rectangle 10">
            <a:extLst>
              <a:ext uri="{FF2B5EF4-FFF2-40B4-BE49-F238E27FC236}">
                <a16:creationId xmlns:a16="http://schemas.microsoft.com/office/drawing/2014/main" id="{A865C880-EBC3-2315-F93A-F3049B55F288}"/>
              </a:ext>
            </a:extLst>
          </p:cNvPr>
          <p:cNvSpPr/>
          <p:nvPr/>
        </p:nvSpPr>
        <p:spPr>
          <a:xfrm>
            <a:off x="653098" y="2327459"/>
            <a:ext cx="45719" cy="304684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EBD0A4FC-43A1-B858-A4B1-C8FE0249C540}"/>
              </a:ext>
            </a:extLst>
          </p:cNvPr>
          <p:cNvCxnSpPr/>
          <p:nvPr/>
        </p:nvCxnSpPr>
        <p:spPr>
          <a:xfrm>
            <a:off x="6042660" y="3032760"/>
            <a:ext cx="525780" cy="45531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F28F393-C4D8-11F5-9970-5A3C17363E2C}"/>
              </a:ext>
            </a:extLst>
          </p:cNvPr>
          <p:cNvCxnSpPr>
            <a:cxnSpLocks/>
          </p:cNvCxnSpPr>
          <p:nvPr/>
        </p:nvCxnSpPr>
        <p:spPr>
          <a:xfrm flipH="1">
            <a:off x="11189016" y="4258871"/>
            <a:ext cx="647700" cy="669328"/>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
        <p:nvSpPr>
          <p:cNvPr id="17" name="Oval 16">
            <a:extLst>
              <a:ext uri="{FF2B5EF4-FFF2-40B4-BE49-F238E27FC236}">
                <a16:creationId xmlns:a16="http://schemas.microsoft.com/office/drawing/2014/main" id="{05F2B7B3-2BDC-55D9-2BE1-5DA7DA958DA9}"/>
              </a:ext>
            </a:extLst>
          </p:cNvPr>
          <p:cNvSpPr/>
          <p:nvPr/>
        </p:nvSpPr>
        <p:spPr>
          <a:xfrm>
            <a:off x="114236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D8B458B2-0F0F-7EDB-269D-6CB29C59651B}"/>
              </a:ext>
            </a:extLst>
          </p:cNvPr>
          <p:cNvSpPr/>
          <p:nvPr/>
        </p:nvSpPr>
        <p:spPr>
          <a:xfrm>
            <a:off x="115824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F983EC66-33D9-1912-E002-2297A153D238}"/>
              </a:ext>
            </a:extLst>
          </p:cNvPr>
          <p:cNvSpPr/>
          <p:nvPr/>
        </p:nvSpPr>
        <p:spPr>
          <a:xfrm>
            <a:off x="117411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A9C8CB2-7AE4-D5F1-2EFD-E3568D28CD7B}"/>
              </a:ext>
            </a:extLst>
          </p:cNvPr>
          <p:cNvSpPr/>
          <p:nvPr/>
        </p:nvSpPr>
        <p:spPr>
          <a:xfrm>
            <a:off x="11899900" y="6496050"/>
            <a:ext cx="114300" cy="1143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85019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B70195-0183-5F64-AB66-275CF938896B}"/>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F8541501-2C47-ED2C-7F53-7D58383909BD}"/>
              </a:ext>
            </a:extLst>
          </p:cNvPr>
          <p:cNvSpPr/>
          <p:nvPr/>
        </p:nvSpPr>
        <p:spPr>
          <a:xfrm>
            <a:off x="0" y="0"/>
            <a:ext cx="12192000" cy="6858000"/>
          </a:xfrm>
          <a:prstGeom prst="rect">
            <a:avLst/>
          </a:prstGeom>
          <a:solidFill>
            <a:srgbClr val="8E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Oval 3">
            <a:extLst>
              <a:ext uri="{FF2B5EF4-FFF2-40B4-BE49-F238E27FC236}">
                <a16:creationId xmlns:a16="http://schemas.microsoft.com/office/drawing/2014/main" id="{14D3448F-9D8D-C4E8-8C0F-777BA66766F6}"/>
              </a:ext>
            </a:extLst>
          </p:cNvPr>
          <p:cNvSpPr/>
          <p:nvPr/>
        </p:nvSpPr>
        <p:spPr>
          <a:xfrm>
            <a:off x="2603500" y="0"/>
            <a:ext cx="6985000" cy="6858000"/>
          </a:xfrm>
          <a:prstGeom prst="ellipse">
            <a:avLst/>
          </a:prstGeom>
          <a:solidFill>
            <a:srgbClr val="68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00876B9-5807-0C9B-9C54-5D2D5628A1B0}"/>
              </a:ext>
            </a:extLst>
          </p:cNvPr>
          <p:cNvSpPr txBox="1"/>
          <p:nvPr/>
        </p:nvSpPr>
        <p:spPr>
          <a:xfrm>
            <a:off x="1918784" y="1843950"/>
            <a:ext cx="8354432" cy="2554545"/>
          </a:xfrm>
          <a:prstGeom prst="rect">
            <a:avLst/>
          </a:prstGeom>
          <a:noFill/>
        </p:spPr>
        <p:txBody>
          <a:bodyPr wrap="square" rtlCol="0">
            <a:spAutoFit/>
          </a:bodyPr>
          <a:lstStyle/>
          <a:p>
            <a:pPr algn="ctr"/>
            <a:r>
              <a:rPr lang="pt-PT" sz="6000" b="1" dirty="0">
                <a:solidFill>
                  <a:schemeClr val="bg1"/>
                </a:solidFill>
              </a:rPr>
              <a:t>“</a:t>
            </a:r>
            <a:r>
              <a:rPr lang="en-US" sz="6000" dirty="0">
                <a:solidFill>
                  <a:schemeClr val="bg1"/>
                </a:solidFill>
              </a:rPr>
              <a:t>Tools and Task Shortcuts</a:t>
            </a:r>
            <a:r>
              <a:rPr lang="pt-PT" sz="6000" b="1" dirty="0">
                <a:solidFill>
                  <a:schemeClr val="bg1"/>
                </a:solidFill>
              </a:rPr>
              <a:t>”</a:t>
            </a:r>
          </a:p>
          <a:p>
            <a:pPr algn="ctr"/>
            <a:r>
              <a:rPr lang="pt-BR" sz="4000" dirty="0">
                <a:solidFill>
                  <a:schemeClr val="bg1"/>
                </a:solidFill>
              </a:rPr>
              <a:t>Ferramentas e atalhos de tarefas</a:t>
            </a:r>
            <a:endParaRPr lang="en-US" sz="4000" dirty="0">
              <a:solidFill>
                <a:schemeClr val="bg1"/>
              </a:solidFill>
            </a:endParaRPr>
          </a:p>
        </p:txBody>
      </p:sp>
      <p:sp>
        <p:nvSpPr>
          <p:cNvPr id="6" name="Oval 5">
            <a:extLst>
              <a:ext uri="{FF2B5EF4-FFF2-40B4-BE49-F238E27FC236}">
                <a16:creationId xmlns:a16="http://schemas.microsoft.com/office/drawing/2014/main" id="{92AD3390-F396-65D7-A542-BE6076912266}"/>
              </a:ext>
            </a:extLst>
          </p:cNvPr>
          <p:cNvSpPr/>
          <p:nvPr/>
        </p:nvSpPr>
        <p:spPr>
          <a:xfrm>
            <a:off x="1600200" y="-1016000"/>
            <a:ext cx="8991600" cy="8889998"/>
          </a:xfrm>
          <a:prstGeom prst="ellipse">
            <a:avLst/>
          </a:prstGeom>
          <a:noFill/>
          <a:ln>
            <a:solidFill>
              <a:srgbClr val="68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a:extLst>
              <a:ext uri="{FF2B5EF4-FFF2-40B4-BE49-F238E27FC236}">
                <a16:creationId xmlns:a16="http://schemas.microsoft.com/office/drawing/2014/main" id="{EFB670B9-BACB-F28F-9CFE-4B8C1F258EF2}"/>
              </a:ext>
            </a:extLst>
          </p:cNvPr>
          <p:cNvSpPr/>
          <p:nvPr/>
        </p:nvSpPr>
        <p:spPr>
          <a:xfrm>
            <a:off x="114236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F3986A2E-2638-DD9F-B77A-68EE21A4D902}"/>
              </a:ext>
            </a:extLst>
          </p:cNvPr>
          <p:cNvSpPr/>
          <p:nvPr/>
        </p:nvSpPr>
        <p:spPr>
          <a:xfrm>
            <a:off x="115824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253D54D7-DF02-DB69-F380-1315DF5BDA91}"/>
              </a:ext>
            </a:extLst>
          </p:cNvPr>
          <p:cNvSpPr/>
          <p:nvPr/>
        </p:nvSpPr>
        <p:spPr>
          <a:xfrm>
            <a:off x="1174115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5AF0933-377A-C461-D9E0-C904406C9C48}"/>
              </a:ext>
            </a:extLst>
          </p:cNvPr>
          <p:cNvSpPr/>
          <p:nvPr/>
        </p:nvSpPr>
        <p:spPr>
          <a:xfrm>
            <a:off x="11899900" y="6496050"/>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6863219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656E23-71EA-DFF2-C146-3BB9F6E39AF3}"/>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C59C337E-3101-5CD5-C50A-D7E0675E6D93}"/>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C8ABA0D-A0D9-56B8-EA57-16633BCF13C7}"/>
              </a:ext>
            </a:extLst>
          </p:cNvPr>
          <p:cNvSpPr txBox="1"/>
          <p:nvPr/>
        </p:nvSpPr>
        <p:spPr>
          <a:xfrm>
            <a:off x="161925" y="138440"/>
            <a:ext cx="7789568" cy="523220"/>
          </a:xfrm>
          <a:prstGeom prst="rect">
            <a:avLst/>
          </a:prstGeom>
          <a:noFill/>
        </p:spPr>
        <p:txBody>
          <a:bodyPr wrap="none" rtlCol="0">
            <a:spAutoFit/>
          </a:bodyPr>
          <a:lstStyle/>
          <a:p>
            <a:r>
              <a:rPr lang="pt-BR" sz="2800" b="1" dirty="0">
                <a:solidFill>
                  <a:schemeClr val="bg1"/>
                </a:solidFill>
              </a:rPr>
              <a:t>Oferecer acesso direto às tarefas de alta prioridade</a:t>
            </a:r>
            <a:endParaRPr lang="en-US" sz="7200" b="1" dirty="0">
              <a:solidFill>
                <a:schemeClr val="bg1"/>
              </a:solidFill>
            </a:endParaRPr>
          </a:p>
        </p:txBody>
      </p:sp>
      <p:sp>
        <p:nvSpPr>
          <p:cNvPr id="4" name="Rectangle: Rounded Corners 3">
            <a:extLst>
              <a:ext uri="{FF2B5EF4-FFF2-40B4-BE49-F238E27FC236}">
                <a16:creationId xmlns:a16="http://schemas.microsoft.com/office/drawing/2014/main" id="{D5D4FE8E-9842-F211-BA5D-19CF317DBE17}"/>
              </a:ext>
            </a:extLst>
          </p:cNvPr>
          <p:cNvSpPr/>
          <p:nvPr/>
        </p:nvSpPr>
        <p:spPr>
          <a:xfrm>
            <a:off x="6353175" y="1443841"/>
            <a:ext cx="5229225" cy="4814084"/>
          </a:xfrm>
          <a:prstGeom prst="round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81F67E70-F757-88B0-EC68-ED76B5A6A475}"/>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Terminator 5">
            <a:extLst>
              <a:ext uri="{FF2B5EF4-FFF2-40B4-BE49-F238E27FC236}">
                <a16:creationId xmlns:a16="http://schemas.microsoft.com/office/drawing/2014/main" id="{95B8369B-4A55-F5D7-0639-EDFAB07874AF}"/>
              </a:ext>
            </a:extLst>
          </p:cNvPr>
          <p:cNvSpPr/>
          <p:nvPr/>
        </p:nvSpPr>
        <p:spPr>
          <a:xfrm>
            <a:off x="8967786" y="1268232"/>
            <a:ext cx="1885951" cy="470282"/>
          </a:xfrm>
          <a:prstGeom prst="flowChartTerminator">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Bom </a:t>
            </a:r>
            <a:r>
              <a:rPr lang="en-US" dirty="0" err="1"/>
              <a:t>exemplo</a:t>
            </a:r>
            <a:endParaRPr lang="en-US" dirty="0"/>
          </a:p>
        </p:txBody>
      </p:sp>
      <p:sp>
        <p:nvSpPr>
          <p:cNvPr id="7" name="TextBox 6">
            <a:extLst>
              <a:ext uri="{FF2B5EF4-FFF2-40B4-BE49-F238E27FC236}">
                <a16:creationId xmlns:a16="http://schemas.microsoft.com/office/drawing/2014/main" id="{ABEC3D9C-1F4C-3F78-0F27-B50A9F254617}"/>
              </a:ext>
            </a:extLst>
          </p:cNvPr>
          <p:cNvSpPr txBox="1"/>
          <p:nvPr/>
        </p:nvSpPr>
        <p:spPr>
          <a:xfrm>
            <a:off x="6696075" y="2136475"/>
            <a:ext cx="4727575" cy="1261884"/>
          </a:xfrm>
          <a:prstGeom prst="rect">
            <a:avLst/>
          </a:prstGeom>
          <a:noFill/>
        </p:spPr>
        <p:txBody>
          <a:bodyPr wrap="square" rtlCol="0">
            <a:spAutoFit/>
          </a:bodyPr>
          <a:lstStyle/>
          <a:p>
            <a:r>
              <a:rPr lang="en-US" b="1" dirty="0" err="1"/>
              <a:t>Airfrance</a:t>
            </a:r>
            <a:r>
              <a:rPr lang="en-US" b="1" dirty="0"/>
              <a:t> </a:t>
            </a:r>
            <a:r>
              <a:rPr lang="en-US" sz="1200" dirty="0"/>
              <a:t>(airfrance.pt)</a:t>
            </a:r>
          </a:p>
          <a:p>
            <a:r>
              <a:rPr lang="pt-PT" sz="1200" dirty="0"/>
              <a:t>Assim que o utilizador entra nesta página, é logo deparado com uma ferramenta que facilitará o seu objetivo de vinda ao site, opção esta a reserva de um voo/procura de voos para determinados destinos.</a:t>
            </a:r>
            <a:endParaRPr lang="en-US" sz="900" dirty="0"/>
          </a:p>
          <a:p>
            <a:endParaRPr lang="en-US" sz="1200" dirty="0"/>
          </a:p>
          <a:p>
            <a:endParaRPr lang="en-US" sz="1000" dirty="0"/>
          </a:p>
        </p:txBody>
      </p:sp>
      <p:sp>
        <p:nvSpPr>
          <p:cNvPr id="10" name="TextBox 9">
            <a:extLst>
              <a:ext uri="{FF2B5EF4-FFF2-40B4-BE49-F238E27FC236}">
                <a16:creationId xmlns:a16="http://schemas.microsoft.com/office/drawing/2014/main" id="{30FBE0C1-5674-D255-DBCE-990A4EE0C38D}"/>
              </a:ext>
            </a:extLst>
          </p:cNvPr>
          <p:cNvSpPr txBox="1"/>
          <p:nvPr/>
        </p:nvSpPr>
        <p:spPr>
          <a:xfrm>
            <a:off x="770573" y="1727223"/>
            <a:ext cx="4543424" cy="4247317"/>
          </a:xfrm>
          <a:prstGeom prst="rect">
            <a:avLst/>
          </a:prstGeom>
          <a:noFill/>
        </p:spPr>
        <p:txBody>
          <a:bodyPr wrap="square" rtlCol="0">
            <a:spAutoFit/>
          </a:bodyPr>
          <a:lstStyle/>
          <a:p>
            <a:pPr algn="just"/>
            <a:r>
              <a:rPr lang="pt-BR" dirty="0"/>
              <a:t>A homepage deve permitir que o utilizador inicie as suas tarefas mais comuns diretamente, sem ter de navegar para outras páginas antes de poder agir. Para isso, as ferramentas necessárias ( formulários, campos de pesquisa, seletores ) devem estar disponíveis e funcionais logo na homepage. A situação ideal é o acesso "zero cliques", em que a resposta mais provável já aparece automaticamente ao utilizador sem que este tenha de introduzir qualquer dado. Quando isso não é possível, o objetivo deve ser o acesso de "um clique", onde o utilizador preenche os dados na homepage e obtém o resultado numa página separada.</a:t>
            </a:r>
            <a:endParaRPr lang="en-US" sz="1600" dirty="0"/>
          </a:p>
        </p:txBody>
      </p:sp>
      <p:sp>
        <p:nvSpPr>
          <p:cNvPr id="11" name="Rectangle 10">
            <a:extLst>
              <a:ext uri="{FF2B5EF4-FFF2-40B4-BE49-F238E27FC236}">
                <a16:creationId xmlns:a16="http://schemas.microsoft.com/office/drawing/2014/main" id="{9F383895-77D1-DCA6-D68B-7C55534C363F}"/>
              </a:ext>
            </a:extLst>
          </p:cNvPr>
          <p:cNvSpPr/>
          <p:nvPr/>
        </p:nvSpPr>
        <p:spPr>
          <a:xfrm>
            <a:off x="653098" y="1857224"/>
            <a:ext cx="45720" cy="398731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C78D2F07-02D8-8D3C-6462-0A1A50A45992}"/>
              </a:ext>
            </a:extLst>
          </p:cNvPr>
          <p:cNvSpPr/>
          <p:nvPr/>
        </p:nvSpPr>
        <p:spPr>
          <a:xfrm>
            <a:off x="11582399" y="6496051"/>
            <a:ext cx="114300" cy="1143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983B5A79-2099-DF19-50DC-5C7CCED614AA}"/>
              </a:ext>
            </a:extLst>
          </p:cNvPr>
          <p:cNvSpPr/>
          <p:nvPr/>
        </p:nvSpPr>
        <p:spPr>
          <a:xfrm>
            <a:off x="1174114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7F49C316-0ACB-770D-C236-3B79E6130AD3}"/>
              </a:ext>
            </a:extLst>
          </p:cNvPr>
          <p:cNvSpPr/>
          <p:nvPr/>
        </p:nvSpPr>
        <p:spPr>
          <a:xfrm>
            <a:off x="1189989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A5E5360-302C-07A4-3132-3F241D519171}"/>
              </a:ext>
            </a:extLst>
          </p:cNvPr>
          <p:cNvPicPr>
            <a:picLocks noChangeAspect="1"/>
          </p:cNvPicPr>
          <p:nvPr/>
        </p:nvPicPr>
        <p:blipFill>
          <a:blip r:embed="rId2"/>
          <a:stretch>
            <a:fillRect/>
          </a:stretch>
        </p:blipFill>
        <p:spPr>
          <a:xfrm>
            <a:off x="6956106" y="3613379"/>
            <a:ext cx="4023360" cy="2231161"/>
          </a:xfrm>
          <a:prstGeom prst="rect">
            <a:avLst/>
          </a:prstGeom>
          <a:ln>
            <a:noFill/>
          </a:ln>
          <a:effectLst>
            <a:outerShdw blurRad="190500" algn="tl" rotWithShape="0">
              <a:srgbClr val="000000">
                <a:alpha val="70000"/>
              </a:srgbClr>
            </a:outerShdw>
          </a:effectLst>
        </p:spPr>
      </p:pic>
      <p:cxnSp>
        <p:nvCxnSpPr>
          <p:cNvPr id="16" name="Straight Arrow Connector 15">
            <a:extLst>
              <a:ext uri="{FF2B5EF4-FFF2-40B4-BE49-F238E27FC236}">
                <a16:creationId xmlns:a16="http://schemas.microsoft.com/office/drawing/2014/main" id="{9BC78C40-6BAB-D6E0-262C-31C73B611791}"/>
              </a:ext>
            </a:extLst>
          </p:cNvPr>
          <p:cNvCxnSpPr>
            <a:cxnSpLocks/>
          </p:cNvCxnSpPr>
          <p:nvPr/>
        </p:nvCxnSpPr>
        <p:spPr>
          <a:xfrm>
            <a:off x="6553200" y="4236720"/>
            <a:ext cx="776286" cy="591421"/>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7F340C64-54D0-B29F-B3D3-7ADCCFF6C6E8}"/>
              </a:ext>
            </a:extLst>
          </p:cNvPr>
          <p:cNvCxnSpPr>
            <a:cxnSpLocks/>
          </p:cNvCxnSpPr>
          <p:nvPr/>
        </p:nvCxnSpPr>
        <p:spPr>
          <a:xfrm flipV="1">
            <a:off x="9784080" y="5654040"/>
            <a:ext cx="480060" cy="334287"/>
          </a:xfrm>
          <a:prstGeom prst="straightConnector1">
            <a:avLst/>
          </a:prstGeom>
          <a:ln>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040460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070FD6-E002-BC0B-4CAB-CE58E0B0C9AA}"/>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B5A6DFC8-26DF-9A62-F5E6-1F36A6A11345}"/>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34C617A-F9A8-62BC-D6BA-9859FC456858}"/>
              </a:ext>
            </a:extLst>
          </p:cNvPr>
          <p:cNvSpPr txBox="1"/>
          <p:nvPr/>
        </p:nvSpPr>
        <p:spPr>
          <a:xfrm>
            <a:off x="161925" y="138440"/>
            <a:ext cx="10707547" cy="523220"/>
          </a:xfrm>
          <a:prstGeom prst="rect">
            <a:avLst/>
          </a:prstGeom>
          <a:noFill/>
        </p:spPr>
        <p:txBody>
          <a:bodyPr wrap="none" rtlCol="0">
            <a:spAutoFit/>
          </a:bodyPr>
          <a:lstStyle/>
          <a:p>
            <a:r>
              <a:rPr lang="pt-BR" sz="2800" b="1" dirty="0">
                <a:solidFill>
                  <a:schemeClr val="bg1"/>
                </a:solidFill>
              </a:rPr>
              <a:t>Não incluir ferramentas que não correspondam às tarefas do utilizador</a:t>
            </a:r>
            <a:endParaRPr lang="en-US" sz="7200" b="1" dirty="0">
              <a:solidFill>
                <a:schemeClr val="bg1"/>
              </a:solidFill>
            </a:endParaRPr>
          </a:p>
        </p:txBody>
      </p:sp>
      <p:sp>
        <p:nvSpPr>
          <p:cNvPr id="4" name="Rectangle: Rounded Corners 3">
            <a:extLst>
              <a:ext uri="{FF2B5EF4-FFF2-40B4-BE49-F238E27FC236}">
                <a16:creationId xmlns:a16="http://schemas.microsoft.com/office/drawing/2014/main" id="{01E317F3-9D35-9E43-D7A7-E74433DB4629}"/>
              </a:ext>
            </a:extLst>
          </p:cNvPr>
          <p:cNvSpPr/>
          <p:nvPr/>
        </p:nvSpPr>
        <p:spPr>
          <a:xfrm>
            <a:off x="6353175" y="1443841"/>
            <a:ext cx="5229225" cy="481408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9095B645-239D-D4E0-A5EF-5C4E12B23131}"/>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Flowchart: Terminator 5">
            <a:extLst>
              <a:ext uri="{FF2B5EF4-FFF2-40B4-BE49-F238E27FC236}">
                <a16:creationId xmlns:a16="http://schemas.microsoft.com/office/drawing/2014/main" id="{3BFA6B2D-1164-3FAD-B86F-96E2395984A8}"/>
              </a:ext>
            </a:extLst>
          </p:cNvPr>
          <p:cNvSpPr/>
          <p:nvPr/>
        </p:nvSpPr>
        <p:spPr>
          <a:xfrm>
            <a:off x="8967786" y="1268232"/>
            <a:ext cx="1885951" cy="470282"/>
          </a:xfrm>
          <a:prstGeom prst="flowChartTerminator">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Mau </a:t>
            </a:r>
            <a:r>
              <a:rPr lang="en-US" dirty="0" err="1"/>
              <a:t>Exemplo</a:t>
            </a:r>
            <a:endParaRPr lang="en-US" dirty="0"/>
          </a:p>
        </p:txBody>
      </p:sp>
      <p:sp>
        <p:nvSpPr>
          <p:cNvPr id="7" name="TextBox 6">
            <a:extLst>
              <a:ext uri="{FF2B5EF4-FFF2-40B4-BE49-F238E27FC236}">
                <a16:creationId xmlns:a16="http://schemas.microsoft.com/office/drawing/2014/main" id="{88DB6E27-CE72-2E77-7C62-20876D6AF96C}"/>
              </a:ext>
            </a:extLst>
          </p:cNvPr>
          <p:cNvSpPr txBox="1"/>
          <p:nvPr/>
        </p:nvSpPr>
        <p:spPr>
          <a:xfrm>
            <a:off x="6696075" y="2136475"/>
            <a:ext cx="4727575" cy="1477328"/>
          </a:xfrm>
          <a:prstGeom prst="rect">
            <a:avLst/>
          </a:prstGeom>
          <a:noFill/>
        </p:spPr>
        <p:txBody>
          <a:bodyPr wrap="square" rtlCol="0">
            <a:spAutoFit/>
          </a:bodyPr>
          <a:lstStyle/>
          <a:p>
            <a:r>
              <a:rPr lang="en-US" b="1" dirty="0"/>
              <a:t>Sapo </a:t>
            </a:r>
            <a:r>
              <a:rPr lang="en-US" sz="1200" dirty="0"/>
              <a:t>(sapo.pt)</a:t>
            </a:r>
          </a:p>
          <a:p>
            <a:r>
              <a:rPr lang="pt-BR" sz="1200" dirty="0"/>
              <a:t>A homepage tenta ser um motor de busca, um jornal, um site de meteorologia, um stand online, e muito mais, tudo ao mesmo tempo, algo que cria imenso ruído visual. Se alguém entrar para ler uma notícia, será bombardeado com publicidade, tópicos que pouco ou nada têm a ver com a notícia que lemos, embora com os anos, o site já tenho apresentado alguma mudança</a:t>
            </a:r>
            <a:endParaRPr lang="en-US" sz="1000" dirty="0"/>
          </a:p>
        </p:txBody>
      </p:sp>
      <p:sp>
        <p:nvSpPr>
          <p:cNvPr id="10" name="TextBox 9">
            <a:extLst>
              <a:ext uri="{FF2B5EF4-FFF2-40B4-BE49-F238E27FC236}">
                <a16:creationId xmlns:a16="http://schemas.microsoft.com/office/drawing/2014/main" id="{752898F0-5E0C-CA0B-FB8F-0D979D293C9B}"/>
              </a:ext>
            </a:extLst>
          </p:cNvPr>
          <p:cNvSpPr txBox="1"/>
          <p:nvPr/>
        </p:nvSpPr>
        <p:spPr>
          <a:xfrm>
            <a:off x="768350" y="2004223"/>
            <a:ext cx="4543424" cy="3693319"/>
          </a:xfrm>
          <a:prstGeom prst="rect">
            <a:avLst/>
          </a:prstGeom>
          <a:noFill/>
        </p:spPr>
        <p:txBody>
          <a:bodyPr wrap="square" rtlCol="0">
            <a:spAutoFit/>
          </a:bodyPr>
          <a:lstStyle/>
          <a:p>
            <a:pPr algn="just"/>
            <a:r>
              <a:rPr lang="pt-BR" dirty="0"/>
              <a:t>Incluir uma ferramenta na homepage deve ser sempre uma decisão justificada pela relevância dessa ferramenta para as necessidades reais dos utilizadores do site, nunca pela simples disponibilidade técnica da ferramenta. Os utilizadores são naturalmente atraídos por elementos interativos como caixas de texto e menus dropdown, e quando os encontram tentam utilizá-los e esperam que sirvam um propósito relacionado com o motivo pelo qual vieram ao site. Se a ferramenta não corresponde a esse propósito, o resultado é confusão e desconfiança.</a:t>
            </a:r>
            <a:endParaRPr lang="en-US" sz="1600" dirty="0"/>
          </a:p>
        </p:txBody>
      </p:sp>
      <p:sp>
        <p:nvSpPr>
          <p:cNvPr id="11" name="Rectangle 10">
            <a:extLst>
              <a:ext uri="{FF2B5EF4-FFF2-40B4-BE49-F238E27FC236}">
                <a16:creationId xmlns:a16="http://schemas.microsoft.com/office/drawing/2014/main" id="{6FC21A94-6EDD-6FD2-D3BA-98484E4B6CAB}"/>
              </a:ext>
            </a:extLst>
          </p:cNvPr>
          <p:cNvSpPr/>
          <p:nvPr/>
        </p:nvSpPr>
        <p:spPr>
          <a:xfrm>
            <a:off x="653098" y="2111996"/>
            <a:ext cx="45720" cy="3477772"/>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C6053361-1A40-7D03-6AF5-1B5B06B2AFB2}"/>
              </a:ext>
            </a:extLst>
          </p:cNvPr>
          <p:cNvPicPr>
            <a:picLocks noChangeAspect="1"/>
          </p:cNvPicPr>
          <p:nvPr/>
        </p:nvPicPr>
        <p:blipFill>
          <a:blip r:embed="rId2"/>
          <a:stretch>
            <a:fillRect/>
          </a:stretch>
        </p:blipFill>
        <p:spPr>
          <a:xfrm>
            <a:off x="7299006" y="5668740"/>
            <a:ext cx="3337560" cy="558494"/>
          </a:xfrm>
          <a:prstGeom prst="rect">
            <a:avLst/>
          </a:prstGeom>
        </p:spPr>
      </p:pic>
      <p:pic>
        <p:nvPicPr>
          <p:cNvPr id="16" name="Picture 15">
            <a:extLst>
              <a:ext uri="{FF2B5EF4-FFF2-40B4-BE49-F238E27FC236}">
                <a16:creationId xmlns:a16="http://schemas.microsoft.com/office/drawing/2014/main" id="{01DA03F7-6AF1-C433-F6D7-C3737F4AA787}"/>
              </a:ext>
            </a:extLst>
          </p:cNvPr>
          <p:cNvPicPr>
            <a:picLocks noChangeAspect="1"/>
          </p:cNvPicPr>
          <p:nvPr/>
        </p:nvPicPr>
        <p:blipFill>
          <a:blip r:embed="rId3"/>
          <a:stretch>
            <a:fillRect/>
          </a:stretch>
        </p:blipFill>
        <p:spPr>
          <a:xfrm>
            <a:off x="7396161" y="3637393"/>
            <a:ext cx="3143250" cy="1912284"/>
          </a:xfrm>
          <a:prstGeom prst="rect">
            <a:avLst/>
          </a:prstGeom>
          <a:ln>
            <a:noFill/>
          </a:ln>
          <a:effectLst>
            <a:outerShdw blurRad="190500" algn="tl" rotWithShape="0">
              <a:srgbClr val="000000">
                <a:alpha val="70000"/>
              </a:srgbClr>
            </a:outerShdw>
          </a:effectLst>
        </p:spPr>
      </p:pic>
      <p:cxnSp>
        <p:nvCxnSpPr>
          <p:cNvPr id="21" name="Straight Arrow Connector 20">
            <a:extLst>
              <a:ext uri="{FF2B5EF4-FFF2-40B4-BE49-F238E27FC236}">
                <a16:creationId xmlns:a16="http://schemas.microsoft.com/office/drawing/2014/main" id="{00152455-3293-4ED6-4B76-F3C3EF98EC21}"/>
              </a:ext>
            </a:extLst>
          </p:cNvPr>
          <p:cNvCxnSpPr>
            <a:cxnSpLocks/>
          </p:cNvCxnSpPr>
          <p:nvPr/>
        </p:nvCxnSpPr>
        <p:spPr>
          <a:xfrm flipH="1">
            <a:off x="10433679" y="5230359"/>
            <a:ext cx="647700" cy="66932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9E773421-6AC7-D94D-9DF8-383ADBF72445}"/>
              </a:ext>
            </a:extLst>
          </p:cNvPr>
          <p:cNvCxnSpPr>
            <a:cxnSpLocks/>
          </p:cNvCxnSpPr>
          <p:nvPr/>
        </p:nvCxnSpPr>
        <p:spPr>
          <a:xfrm flipV="1">
            <a:off x="6854193" y="3789412"/>
            <a:ext cx="765807" cy="523550"/>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72D65D9F-C42B-0A47-1E21-93A9239FDF04}"/>
              </a:ext>
            </a:extLst>
          </p:cNvPr>
          <p:cNvCxnSpPr>
            <a:cxnSpLocks/>
          </p:cNvCxnSpPr>
          <p:nvPr/>
        </p:nvCxnSpPr>
        <p:spPr>
          <a:xfrm flipH="1" flipV="1">
            <a:off x="10347960" y="3789412"/>
            <a:ext cx="643641" cy="65304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33C4209-C262-0102-36EE-85D0D423D5B1}"/>
              </a:ext>
            </a:extLst>
          </p:cNvPr>
          <p:cNvCxnSpPr>
            <a:cxnSpLocks/>
          </p:cNvCxnSpPr>
          <p:nvPr/>
        </p:nvCxnSpPr>
        <p:spPr>
          <a:xfrm flipV="1">
            <a:off x="6696075" y="4257544"/>
            <a:ext cx="1793082" cy="57896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4955F06E-9770-ECB5-7560-EBC6DF144B04}"/>
              </a:ext>
            </a:extLst>
          </p:cNvPr>
          <p:cNvSpPr/>
          <p:nvPr/>
        </p:nvSpPr>
        <p:spPr>
          <a:xfrm>
            <a:off x="1158239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9168507B-8CE3-5C3F-4C69-01C88BF74C10}"/>
              </a:ext>
            </a:extLst>
          </p:cNvPr>
          <p:cNvSpPr/>
          <p:nvPr/>
        </p:nvSpPr>
        <p:spPr>
          <a:xfrm>
            <a:off x="11741149" y="6496051"/>
            <a:ext cx="114300" cy="1143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9596129E-6AE1-1894-CF0B-698C02B5A1F3}"/>
              </a:ext>
            </a:extLst>
          </p:cNvPr>
          <p:cNvSpPr/>
          <p:nvPr/>
        </p:nvSpPr>
        <p:spPr>
          <a:xfrm>
            <a:off x="1189989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658025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AD51E0-E2C1-07BD-F63A-7C2B7C18D16D}"/>
            </a:ext>
          </a:extLst>
        </p:cNvPr>
        <p:cNvGrpSpPr/>
        <p:nvPr/>
      </p:nvGrpSpPr>
      <p:grpSpPr>
        <a:xfrm>
          <a:off x="0" y="0"/>
          <a:ext cx="0" cy="0"/>
          <a:chOff x="0" y="0"/>
          <a:chExt cx="0" cy="0"/>
        </a:xfrm>
      </p:grpSpPr>
      <p:sp>
        <p:nvSpPr>
          <p:cNvPr id="2" name="Rectangle 1">
            <a:extLst>
              <a:ext uri="{FF2B5EF4-FFF2-40B4-BE49-F238E27FC236}">
                <a16:creationId xmlns:a16="http://schemas.microsoft.com/office/drawing/2014/main" id="{38E036F4-C9B6-E3EF-F941-E40B9CEB1D09}"/>
              </a:ext>
            </a:extLst>
          </p:cNvPr>
          <p:cNvSpPr/>
          <p:nvPr/>
        </p:nvSpPr>
        <p:spPr>
          <a:xfrm>
            <a:off x="0" y="0"/>
            <a:ext cx="12192000" cy="800100"/>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926585C-E445-5A08-5547-FCC89252DEA0}"/>
              </a:ext>
            </a:extLst>
          </p:cNvPr>
          <p:cNvSpPr txBox="1"/>
          <p:nvPr/>
        </p:nvSpPr>
        <p:spPr>
          <a:xfrm>
            <a:off x="161925" y="138440"/>
            <a:ext cx="8656088" cy="523220"/>
          </a:xfrm>
          <a:prstGeom prst="rect">
            <a:avLst/>
          </a:prstGeom>
          <a:noFill/>
        </p:spPr>
        <p:txBody>
          <a:bodyPr wrap="none" rtlCol="0">
            <a:spAutoFit/>
          </a:bodyPr>
          <a:lstStyle/>
          <a:p>
            <a:r>
              <a:rPr lang="pt-BR" sz="2800" b="1" dirty="0">
                <a:solidFill>
                  <a:schemeClr val="bg1"/>
                </a:solidFill>
              </a:rPr>
              <a:t>Não reproduzir funcionalidades que o browser já oferece</a:t>
            </a:r>
            <a:endParaRPr lang="en-US" sz="7200" b="1" dirty="0">
              <a:solidFill>
                <a:schemeClr val="bg1"/>
              </a:solidFill>
            </a:endParaRPr>
          </a:p>
        </p:txBody>
      </p:sp>
      <p:sp>
        <p:nvSpPr>
          <p:cNvPr id="4" name="Rectangle: Rounded Corners 3">
            <a:extLst>
              <a:ext uri="{FF2B5EF4-FFF2-40B4-BE49-F238E27FC236}">
                <a16:creationId xmlns:a16="http://schemas.microsoft.com/office/drawing/2014/main" id="{E8C740DF-9403-5C40-A564-BA4442BF787A}"/>
              </a:ext>
            </a:extLst>
          </p:cNvPr>
          <p:cNvSpPr/>
          <p:nvPr/>
        </p:nvSpPr>
        <p:spPr>
          <a:xfrm>
            <a:off x="6353175" y="1443841"/>
            <a:ext cx="5229225" cy="4814084"/>
          </a:xfrm>
          <a:prstGeom prst="roundRect">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A5355E22-1180-1513-A08C-97A86382367F}"/>
              </a:ext>
            </a:extLst>
          </p:cNvPr>
          <p:cNvSpPr/>
          <p:nvPr/>
        </p:nvSpPr>
        <p:spPr>
          <a:xfrm>
            <a:off x="6353174" y="1562904"/>
            <a:ext cx="5229225" cy="4814084"/>
          </a:xfrm>
          <a:prstGeom prst="roundRect">
            <a:avLst/>
          </a:prstGeom>
          <a:solidFill>
            <a:schemeClr val="bg1"/>
          </a:solidFill>
          <a:ln>
            <a:noFill/>
          </a:ln>
          <a:effectLst>
            <a:outerShdw blurRad="50800" dist="38100" dir="5400000" algn="t"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E41A06EC-5940-1B72-B78C-82297FBE40C7}"/>
              </a:ext>
            </a:extLst>
          </p:cNvPr>
          <p:cNvSpPr txBox="1"/>
          <p:nvPr/>
        </p:nvSpPr>
        <p:spPr>
          <a:xfrm>
            <a:off x="6696075" y="2136475"/>
            <a:ext cx="2828925" cy="2923877"/>
          </a:xfrm>
          <a:prstGeom prst="rect">
            <a:avLst/>
          </a:prstGeom>
          <a:noFill/>
        </p:spPr>
        <p:txBody>
          <a:bodyPr wrap="square" rtlCol="0">
            <a:spAutoFit/>
          </a:bodyPr>
          <a:lstStyle/>
          <a:p>
            <a:r>
              <a:rPr lang="en-US" b="1" dirty="0"/>
              <a:t>Gmail </a:t>
            </a:r>
            <a:r>
              <a:rPr lang="en-US" sz="1200" dirty="0"/>
              <a:t>(mail.google.com)</a:t>
            </a:r>
          </a:p>
          <a:p>
            <a:r>
              <a:rPr lang="pt-BR" sz="1200" dirty="0"/>
              <a:t>Embora por um lado seja considerado uma boa prática, o Gmail tem o seu próprio Menu de Contexto ( quando se clica com o botão direito do rato num email ). O Gmail bloqueia o menu de contexto nativo do browser ( onde costuma aparecer “Traduzir”, “Inspecionar” ). O utilizador espera as ferramentas habituais do browser e recebe as ferramentas da Google. Embora algumas das escolhas façam sentido, estas mesmas podem ser efetuadas após entrarmos nesse email específico.</a:t>
            </a:r>
            <a:endParaRPr lang="en-US" sz="1200" dirty="0"/>
          </a:p>
          <a:p>
            <a:endParaRPr lang="en-US" sz="1000" dirty="0"/>
          </a:p>
        </p:txBody>
      </p:sp>
      <p:sp>
        <p:nvSpPr>
          <p:cNvPr id="10" name="TextBox 9">
            <a:extLst>
              <a:ext uri="{FF2B5EF4-FFF2-40B4-BE49-F238E27FC236}">
                <a16:creationId xmlns:a16="http://schemas.microsoft.com/office/drawing/2014/main" id="{BC30213A-8C06-274D-FAE8-95EE40521CAE}"/>
              </a:ext>
            </a:extLst>
          </p:cNvPr>
          <p:cNvSpPr txBox="1"/>
          <p:nvPr/>
        </p:nvSpPr>
        <p:spPr>
          <a:xfrm>
            <a:off x="768348" y="2419721"/>
            <a:ext cx="4543424" cy="2862322"/>
          </a:xfrm>
          <a:prstGeom prst="rect">
            <a:avLst/>
          </a:prstGeom>
          <a:noFill/>
        </p:spPr>
        <p:txBody>
          <a:bodyPr wrap="square" rtlCol="0">
            <a:spAutoFit/>
          </a:bodyPr>
          <a:lstStyle/>
          <a:p>
            <a:pPr algn="just"/>
            <a:r>
              <a:rPr lang="pt-BR" dirty="0"/>
              <a:t>A homepage não deve incluir ferramentas ou botões que duplicam funcionalidades que o próprio browser já disponibiliza, como adicionar uma página aos favoritos ou definir uma página como página inicial. Estas opções não acrescentam valor ao utilizador (quem as quiser usar já sabe como fazê-lo através do browser) e ocupam espaço que poderia ser dedicado a conteúdo ou funcionalidades genuinamente úteis.</a:t>
            </a:r>
            <a:endParaRPr lang="en-US" sz="1600" dirty="0"/>
          </a:p>
        </p:txBody>
      </p:sp>
      <p:sp>
        <p:nvSpPr>
          <p:cNvPr id="11" name="Rectangle 10">
            <a:extLst>
              <a:ext uri="{FF2B5EF4-FFF2-40B4-BE49-F238E27FC236}">
                <a16:creationId xmlns:a16="http://schemas.microsoft.com/office/drawing/2014/main" id="{A953944C-4DB5-CD55-8C51-5F88AE4AA57A}"/>
              </a:ext>
            </a:extLst>
          </p:cNvPr>
          <p:cNvSpPr/>
          <p:nvPr/>
        </p:nvSpPr>
        <p:spPr>
          <a:xfrm>
            <a:off x="653098" y="2535404"/>
            <a:ext cx="45720" cy="2630956"/>
          </a:xfrm>
          <a:prstGeom prst="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lowchart: Terminator 7">
            <a:extLst>
              <a:ext uri="{FF2B5EF4-FFF2-40B4-BE49-F238E27FC236}">
                <a16:creationId xmlns:a16="http://schemas.microsoft.com/office/drawing/2014/main" id="{51EB9BE9-9EBD-0315-4AE4-4793EEBF9BA4}"/>
              </a:ext>
            </a:extLst>
          </p:cNvPr>
          <p:cNvSpPr/>
          <p:nvPr/>
        </p:nvSpPr>
        <p:spPr>
          <a:xfrm>
            <a:off x="8967786" y="1268232"/>
            <a:ext cx="1885951" cy="470282"/>
          </a:xfrm>
          <a:prstGeom prst="flowChartTerminator">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 Mau </a:t>
            </a:r>
            <a:r>
              <a:rPr lang="en-US" dirty="0" err="1"/>
              <a:t>Exemplo</a:t>
            </a:r>
            <a:endParaRPr lang="en-US" dirty="0"/>
          </a:p>
        </p:txBody>
      </p:sp>
      <p:pic>
        <p:nvPicPr>
          <p:cNvPr id="15" name="Picture 14">
            <a:extLst>
              <a:ext uri="{FF2B5EF4-FFF2-40B4-BE49-F238E27FC236}">
                <a16:creationId xmlns:a16="http://schemas.microsoft.com/office/drawing/2014/main" id="{43077A25-8BD4-A0EF-C7FB-632D0BB6B745}"/>
              </a:ext>
            </a:extLst>
          </p:cNvPr>
          <p:cNvPicPr>
            <a:picLocks noChangeAspect="1"/>
          </p:cNvPicPr>
          <p:nvPr/>
        </p:nvPicPr>
        <p:blipFill>
          <a:blip r:embed="rId2"/>
          <a:stretch>
            <a:fillRect/>
          </a:stretch>
        </p:blipFill>
        <p:spPr>
          <a:xfrm>
            <a:off x="9525000" y="2136475"/>
            <a:ext cx="1791024" cy="3968906"/>
          </a:xfrm>
          <a:prstGeom prst="rect">
            <a:avLst/>
          </a:prstGeom>
          <a:ln>
            <a:noFill/>
          </a:ln>
          <a:effectLst>
            <a:outerShdw blurRad="190500" algn="tl" rotWithShape="0">
              <a:srgbClr val="000000">
                <a:alpha val="70000"/>
              </a:srgbClr>
            </a:outerShdw>
          </a:effectLst>
        </p:spPr>
      </p:pic>
      <p:cxnSp>
        <p:nvCxnSpPr>
          <p:cNvPr id="16" name="Straight Arrow Connector 15">
            <a:extLst>
              <a:ext uri="{FF2B5EF4-FFF2-40B4-BE49-F238E27FC236}">
                <a16:creationId xmlns:a16="http://schemas.microsoft.com/office/drawing/2014/main" id="{7046AE98-5CFE-348B-B7BE-E76C511F9B72}"/>
              </a:ext>
            </a:extLst>
          </p:cNvPr>
          <p:cNvCxnSpPr>
            <a:cxnSpLocks/>
          </p:cNvCxnSpPr>
          <p:nvPr/>
        </p:nvCxnSpPr>
        <p:spPr>
          <a:xfrm flipH="1">
            <a:off x="11150600" y="1866076"/>
            <a:ext cx="647700" cy="66932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24" name="Oval 23">
            <a:extLst>
              <a:ext uri="{FF2B5EF4-FFF2-40B4-BE49-F238E27FC236}">
                <a16:creationId xmlns:a16="http://schemas.microsoft.com/office/drawing/2014/main" id="{867E3E21-AFB1-9E0A-15CB-CCA64B6CAE7C}"/>
              </a:ext>
            </a:extLst>
          </p:cNvPr>
          <p:cNvSpPr/>
          <p:nvPr/>
        </p:nvSpPr>
        <p:spPr>
          <a:xfrm>
            <a:off x="1158239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8A5CB5D-3D67-04E7-28E8-B3A189099AD5}"/>
              </a:ext>
            </a:extLst>
          </p:cNvPr>
          <p:cNvSpPr/>
          <p:nvPr/>
        </p:nvSpPr>
        <p:spPr>
          <a:xfrm>
            <a:off x="11741149" y="6496051"/>
            <a:ext cx="114300" cy="114300"/>
          </a:xfrm>
          <a:prstGeom prst="ellipse">
            <a:avLst/>
          </a:prstGeom>
          <a:solidFill>
            <a:srgbClr val="C495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6894A5FF-36B6-7A6B-7FB8-7155E0200D74}"/>
              </a:ext>
            </a:extLst>
          </p:cNvPr>
          <p:cNvSpPr/>
          <p:nvPr/>
        </p:nvSpPr>
        <p:spPr>
          <a:xfrm>
            <a:off x="11899899" y="6496051"/>
            <a:ext cx="114300" cy="11430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498884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EE546E-4789-83E7-5D1F-6CDB11344877}"/>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BEA508-5557-01A4-8F25-DEC7C7F9297A}"/>
              </a:ext>
            </a:extLst>
          </p:cNvPr>
          <p:cNvSpPr txBox="1"/>
          <p:nvPr/>
        </p:nvSpPr>
        <p:spPr>
          <a:xfrm>
            <a:off x="4723380" y="237034"/>
            <a:ext cx="2571538" cy="769441"/>
          </a:xfrm>
          <a:prstGeom prst="rect">
            <a:avLst/>
          </a:prstGeom>
          <a:noFill/>
        </p:spPr>
        <p:txBody>
          <a:bodyPr wrap="none" rtlCol="0">
            <a:spAutoFit/>
          </a:bodyPr>
          <a:lstStyle/>
          <a:p>
            <a:r>
              <a:rPr lang="pt-PT" sz="4400" b="1" dirty="0">
                <a:solidFill>
                  <a:schemeClr val="accent1">
                    <a:lumMod val="50000"/>
                  </a:schemeClr>
                </a:solidFill>
              </a:rPr>
              <a:t>Conclusão</a:t>
            </a:r>
            <a:endParaRPr lang="en-US" sz="2400" b="1" dirty="0">
              <a:solidFill>
                <a:schemeClr val="accent1">
                  <a:lumMod val="50000"/>
                </a:schemeClr>
              </a:solidFill>
            </a:endParaRPr>
          </a:p>
        </p:txBody>
      </p:sp>
      <p:sp>
        <p:nvSpPr>
          <p:cNvPr id="3" name="Rectangle: Rounded Corners 2">
            <a:extLst>
              <a:ext uri="{FF2B5EF4-FFF2-40B4-BE49-F238E27FC236}">
                <a16:creationId xmlns:a16="http://schemas.microsoft.com/office/drawing/2014/main" id="{CD3C8C71-E580-DB85-35F1-33DB22724EF4}"/>
              </a:ext>
            </a:extLst>
          </p:cNvPr>
          <p:cNvSpPr/>
          <p:nvPr/>
        </p:nvSpPr>
        <p:spPr>
          <a:xfrm>
            <a:off x="947736" y="1146175"/>
            <a:ext cx="10296525" cy="4610100"/>
          </a:xfrm>
          <a:prstGeom prst="roundRect">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Rounded Corners 4">
            <a:extLst>
              <a:ext uri="{FF2B5EF4-FFF2-40B4-BE49-F238E27FC236}">
                <a16:creationId xmlns:a16="http://schemas.microsoft.com/office/drawing/2014/main" id="{DC434300-1B98-5258-D1AF-0CCC739EF8A9}"/>
              </a:ext>
            </a:extLst>
          </p:cNvPr>
          <p:cNvSpPr/>
          <p:nvPr/>
        </p:nvSpPr>
        <p:spPr>
          <a:xfrm>
            <a:off x="947736" y="1241425"/>
            <a:ext cx="10296525" cy="4610100"/>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23C5F218-6370-B89C-99A8-5BEE04B60F3D}"/>
              </a:ext>
            </a:extLst>
          </p:cNvPr>
          <p:cNvSpPr txBox="1"/>
          <p:nvPr/>
        </p:nvSpPr>
        <p:spPr>
          <a:xfrm>
            <a:off x="2061208" y="1744980"/>
            <a:ext cx="8069579" cy="3139321"/>
          </a:xfrm>
          <a:prstGeom prst="rect">
            <a:avLst/>
          </a:prstGeom>
          <a:noFill/>
        </p:spPr>
        <p:txBody>
          <a:bodyPr wrap="square" rtlCol="0">
            <a:spAutoFit/>
          </a:bodyPr>
          <a:lstStyle/>
          <a:p>
            <a:pPr algn="just"/>
            <a:r>
              <a:rPr lang="pt-BR" dirty="0">
                <a:solidFill>
                  <a:schemeClr val="accent1">
                    <a:lumMod val="50000"/>
                  </a:schemeClr>
                </a:solidFill>
              </a:rPr>
              <a:t>Resumindo, a aplicação rigorosa das diretrizes de usabilidade na página inicial é determinante para o sucesso da retenção e satisfação do utilizador. Ao privilegiar a exposição de conteúdos reais e a disponibilização de atalhos funcionais, transformamos uma interface estática numa ferramenta de exploração intuitiva. A filosofia por trás destas regras demonstra que uma boa homepage deve ser capaz de responder às perguntas fundamentais do utilizador ("O que existe aqui?" e "Como posso fazê-lo?“) de forma quase instantânea. Ao evitar a abstração excessiva e a redundância de funcionalidades, o design foca-se no que é essencial: guiar o utilizador ao seu objetivo com o mínimo de fricção possível, estabelecendo uma base de confiança e eficiência que define toda a experiência de utilização do sistema.</a:t>
            </a:r>
            <a:endParaRPr lang="en-US" dirty="0">
              <a:solidFill>
                <a:schemeClr val="accent1">
                  <a:lumMod val="50000"/>
                </a:schemeClr>
              </a:solidFill>
            </a:endParaRPr>
          </a:p>
        </p:txBody>
      </p:sp>
    </p:spTree>
    <p:extLst>
      <p:ext uri="{BB962C8B-B14F-4D97-AF65-F5344CB8AC3E}">
        <p14:creationId xmlns:p14="http://schemas.microsoft.com/office/powerpoint/2010/main" val="267344811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73</TotalTime>
  <Words>1467</Words>
  <Application>Microsoft Office PowerPoint</Application>
  <PresentationFormat>Widescreen</PresentationFormat>
  <Paragraphs>76</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Calibri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Administrator</dc:creator>
  <cp:lastModifiedBy>Administrator</cp:lastModifiedBy>
  <cp:revision>1</cp:revision>
  <dcterms:created xsi:type="dcterms:W3CDTF">2026-03-01T19:48:46Z</dcterms:created>
  <dcterms:modified xsi:type="dcterms:W3CDTF">2026-03-01T21:02:00Z</dcterms:modified>
</cp:coreProperties>
</file>
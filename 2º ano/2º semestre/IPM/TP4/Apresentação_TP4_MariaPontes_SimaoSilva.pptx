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190D"/>
    <a:srgbClr val="FCE3BA"/>
    <a:srgbClr val="FEF5E7"/>
    <a:srgbClr val="294625"/>
    <a:srgbClr val="85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46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4ED69-493A-4EA4-4475-411DE2736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8909A1-3DB4-D8F4-EFBE-8910E73EB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8A8C4-0E05-C7C7-DBB4-E910A1FD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2CE6-CCF5-43F8-A4DA-FD6BA9F5259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7CD77-99AB-A5B4-F32B-80D132F90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7AD5C-89D0-8FDF-6563-EB8DD7AE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5030-1B98-4F92-A239-75A52621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51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8DC5A-B152-2EF2-3534-68698688E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6C28F-942D-6403-7025-9C1CB20B9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B727-9A89-CC5D-01E0-423A4263B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2CE6-CCF5-43F8-A4DA-FD6BA9F5259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7D40E-7714-1DEA-AAAC-256FA4644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8B3E8-7020-F034-45EA-57EE1065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5030-1B98-4F92-A239-75A52621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84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D9292-99C6-F69A-A207-69D97BDF3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3BA97-F94F-2BEE-FB36-9B635DF0F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B8C7E-A331-4CB7-0B0B-39F658B24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2CE6-CCF5-43F8-A4DA-FD6BA9F5259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9AD58-34F5-D7C7-D1F2-635B86205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FAEE1-0384-1931-0297-07BAD7145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5030-1B98-4F92-A239-75A52621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2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3E9A2-BC75-4956-769F-B31E26EF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7AFE3-F1C6-8157-4017-22D88A6CD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23A9A-E507-C98A-4A48-BC28124A8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CF527-ED23-B61A-B8BF-62010E5F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2CE6-CCF5-43F8-A4DA-FD6BA9F5259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D9957-3FED-1599-6DE4-DEA762A62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1706D-FBA8-7D58-B52D-B65A14E0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5030-1B98-4F92-A239-75A52621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81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96C08-D980-4BAA-85F3-8BF98C8D2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6F0A8-0E73-F0A8-0E9E-DF610076A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8C9AF-EFE7-287B-27F8-AF1B4090A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08D9CE-8E18-B79A-51CD-4B858D775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559191-57D8-26F4-D58D-DEDD0C424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5D7DE4-5D34-C48A-4301-E26794FF0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2CE6-CCF5-43F8-A4DA-FD6BA9F5259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8B6D07-2C2E-2631-152A-58C1A5255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896666-A6D2-F58A-0A55-F3052483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5030-1B98-4F92-A239-75A52621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6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B3F0B-3EED-9754-E22E-410C21585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C0EA8-529F-8FEC-C858-01684CAB8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2CE6-CCF5-43F8-A4DA-FD6BA9F5259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B876-68E9-5BA9-7AF5-FD62FF234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AE8C0-1601-FA7E-22BD-60E34F125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5030-1B98-4F92-A239-75A52621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32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99D31D-B947-811B-55BE-2E88FF0D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2CE6-CCF5-43F8-A4DA-FD6BA9F5259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1021F4-759B-19E0-FA86-641A226EB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BBF6F-2A9E-2553-ABE2-0EBCAD6AC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5030-1B98-4F92-A239-75A52621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50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B9ADF-1A87-6CC0-14ED-24FB7F92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BF4C4-2E88-D2C9-69A4-8C59CBD1D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63214-AA98-9F84-7BFB-E83C8BFE4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3B83C-0EED-7B88-D9F8-C8E6C8A1F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2CE6-CCF5-43F8-A4DA-FD6BA9F5259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02E94-2B99-D363-63C7-FA0E060CE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DF72F-DBAA-CBD9-8D2F-53391F10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5030-1B98-4F92-A239-75A52621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96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5EA42-3295-6D4B-FE56-2681C62C8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9E2843-7318-D524-7842-72CE1AC55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62216-34F0-7CBB-44C3-93DEFCAE2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0F803-7FF7-1A59-9E8E-75C096E86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2CE6-CCF5-43F8-A4DA-FD6BA9F5259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B20B6-54A1-3FA9-A03B-27708A72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6A2D2-7441-E560-1FD1-3A226908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5030-1B98-4F92-A239-75A52621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05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4689F-D669-8FB5-AFEA-5F2FD1094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CB29-EECE-F125-2349-E35B16EE9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6DAFE-A905-E73D-42FB-834651A82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2CE6-CCF5-43F8-A4DA-FD6BA9F5259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C5BC4-3A5D-0EE4-743D-4A8B97DE2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37795-9DBC-1F7B-70A2-8FCBA2CE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5030-1B98-4F92-A239-75A52621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9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22C4C0-0CFB-3835-989D-E6EAC90A9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19365-6048-7BA5-099B-058304602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223D7-E29A-F304-740E-AA1D536A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2CE6-CCF5-43F8-A4DA-FD6BA9F5259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61ED7-7D65-D83F-E9F7-C78E730F6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C2A16-9A5C-071D-6BAE-4FDAE543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5030-1B98-4F92-A239-75A52621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37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A9FDC8-9B68-DA4D-FDA0-5275873A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6D1D5-D466-3227-10E2-E02917664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64EB1-0157-251B-E32D-30CE52923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12CE6-CCF5-43F8-A4DA-FD6BA9F5259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B0D5E-544A-0F1C-6176-F1BFEC749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A720B-5FF9-5BD6-9C5D-4DF681824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5030-1B98-4F92-A239-75A52621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31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0CA729-011B-4DD8-8AD6-7E29D4B897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D06192-579F-E582-2882-2A6EC24CB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324" y="0"/>
            <a:ext cx="51435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12C381-5AB8-EA3A-E021-44372E94FA6C}"/>
              </a:ext>
            </a:extLst>
          </p:cNvPr>
          <p:cNvSpPr txBox="1"/>
          <p:nvPr/>
        </p:nvSpPr>
        <p:spPr>
          <a:xfrm>
            <a:off x="1246795" y="2890391"/>
            <a:ext cx="46386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rgbClr val="2946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Robbi - O Peluche Sensorial Inteligente</a:t>
            </a:r>
            <a:endParaRPr lang="en-US" sz="3200" b="1" dirty="0">
              <a:solidFill>
                <a:srgbClr val="2946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ABA60-0DB5-4DB5-C99A-04186579B03A}"/>
              </a:ext>
            </a:extLst>
          </p:cNvPr>
          <p:cNvSpPr txBox="1"/>
          <p:nvPr/>
        </p:nvSpPr>
        <p:spPr>
          <a:xfrm>
            <a:off x="1967681" y="3967609"/>
            <a:ext cx="31969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600" b="1" dirty="0"/>
              <a:t>Trabalho Prático Nº4 </a:t>
            </a:r>
          </a:p>
          <a:p>
            <a:pPr algn="ctr"/>
            <a:r>
              <a:rPr lang="pt-PT" sz="1600" b="1" dirty="0"/>
              <a:t>Interação Pessoa-Máquina</a:t>
            </a:r>
          </a:p>
          <a:p>
            <a:pPr algn="ctr"/>
            <a:r>
              <a:rPr lang="pt-PT" sz="1600" dirty="0"/>
              <a:t>Maria Ana Pontes 2023133420</a:t>
            </a:r>
          </a:p>
          <a:p>
            <a:pPr algn="ctr"/>
            <a:r>
              <a:rPr lang="pt-PT" sz="1600" dirty="0"/>
              <a:t>Simão de Jesus da Silva 2024136045</a:t>
            </a:r>
          </a:p>
        </p:txBody>
      </p:sp>
    </p:spTree>
    <p:extLst>
      <p:ext uri="{BB962C8B-B14F-4D97-AF65-F5344CB8AC3E}">
        <p14:creationId xmlns:p14="http://schemas.microsoft.com/office/powerpoint/2010/main" val="959700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29105-4C21-5333-A083-75442DAEA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5959C8-1348-555B-74CD-575FAC65C0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CBBDF1-3E4D-75DB-6DB7-7E8D24FC3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0"/>
            <a:ext cx="51435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E272E1-2A43-B9D7-8C3F-9F634424682D}"/>
              </a:ext>
            </a:extLst>
          </p:cNvPr>
          <p:cNvSpPr txBox="1"/>
          <p:nvPr/>
        </p:nvSpPr>
        <p:spPr>
          <a:xfrm>
            <a:off x="5672904" y="522000"/>
            <a:ext cx="2348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solidFill>
                  <a:srgbClr val="2946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Problema</a:t>
            </a:r>
            <a:endParaRPr lang="en-US" sz="3200" dirty="0">
              <a:solidFill>
                <a:srgbClr val="2946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7D20EE-0CBB-1C5D-7504-3CEA19D1AE69}"/>
              </a:ext>
            </a:extLst>
          </p:cNvPr>
          <p:cNvSpPr txBox="1"/>
          <p:nvPr/>
        </p:nvSpPr>
        <p:spPr>
          <a:xfrm>
            <a:off x="5670139" y="1514475"/>
            <a:ext cx="599522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dirty="0">
                <a:solidFill>
                  <a:srgbClr val="294625"/>
                </a:solidFill>
              </a:rPr>
              <a:t>Medo de Sons</a:t>
            </a:r>
          </a:p>
          <a:p>
            <a:endParaRPr lang="pt-PT" sz="1600" b="1" dirty="0">
              <a:solidFill>
                <a:srgbClr val="294625"/>
              </a:solidFill>
            </a:endParaRPr>
          </a:p>
          <a:p>
            <a:r>
              <a:rPr lang="pt-PT" sz="1400" dirty="0">
                <a:solidFill>
                  <a:srgbClr val="294625"/>
                </a:solidFill>
              </a:rPr>
              <a:t>Crianças reagem com ansiedade intensa a sons do quotidiano</a:t>
            </a:r>
          </a:p>
          <a:p>
            <a:endParaRPr lang="pt-PT" sz="1600" b="1" dirty="0">
              <a:solidFill>
                <a:srgbClr val="294625"/>
              </a:solidFill>
            </a:endParaRPr>
          </a:p>
          <a:p>
            <a:endParaRPr lang="pt-PT" sz="1600" b="1" dirty="0">
              <a:solidFill>
                <a:srgbClr val="294625"/>
              </a:solidFill>
            </a:endParaRPr>
          </a:p>
          <a:p>
            <a:endParaRPr lang="pt-PT" sz="1600" b="1" dirty="0">
              <a:solidFill>
                <a:srgbClr val="294625"/>
              </a:solidFill>
            </a:endParaRPr>
          </a:p>
          <a:p>
            <a:endParaRPr lang="pt-PT" sz="1600" b="1" dirty="0">
              <a:solidFill>
                <a:srgbClr val="294625"/>
              </a:solidFill>
            </a:endParaRPr>
          </a:p>
          <a:p>
            <a:r>
              <a:rPr lang="pt-PT" sz="1600" b="1" dirty="0">
                <a:solidFill>
                  <a:srgbClr val="294625"/>
                </a:solidFill>
              </a:rPr>
              <a:t>Sem Ferramentas</a:t>
            </a:r>
          </a:p>
          <a:p>
            <a:endParaRPr lang="pt-PT" sz="1600" b="1" dirty="0">
              <a:solidFill>
                <a:srgbClr val="294625"/>
              </a:solidFill>
            </a:endParaRPr>
          </a:p>
          <a:p>
            <a:r>
              <a:rPr lang="pt-PT" sz="1400" dirty="0">
                <a:solidFill>
                  <a:srgbClr val="294625"/>
                </a:solidFill>
              </a:rPr>
              <a:t>Faltam recursos de autorregulação adequados à faixa etária e às necessidades especiais</a:t>
            </a:r>
          </a:p>
          <a:p>
            <a:endParaRPr lang="pt-PT" sz="1600" b="1" dirty="0">
              <a:solidFill>
                <a:srgbClr val="294625"/>
              </a:solidFill>
            </a:endParaRPr>
          </a:p>
          <a:p>
            <a:endParaRPr lang="pt-PT" sz="1600" b="1" dirty="0">
              <a:solidFill>
                <a:srgbClr val="294625"/>
              </a:solidFill>
            </a:endParaRPr>
          </a:p>
          <a:p>
            <a:endParaRPr lang="pt-PT" sz="1600" b="1" dirty="0">
              <a:solidFill>
                <a:srgbClr val="294625"/>
              </a:solidFill>
            </a:endParaRPr>
          </a:p>
          <a:p>
            <a:endParaRPr lang="pt-PT" sz="1600" b="1" dirty="0">
              <a:solidFill>
                <a:srgbClr val="294625"/>
              </a:solidFill>
            </a:endParaRPr>
          </a:p>
          <a:p>
            <a:r>
              <a:rPr lang="pt-PT" sz="1600" b="1" dirty="0">
                <a:solidFill>
                  <a:srgbClr val="294625"/>
                </a:solidFill>
              </a:rPr>
              <a:t>Impacto Real</a:t>
            </a:r>
          </a:p>
          <a:p>
            <a:endParaRPr lang="pt-PT" sz="1600" b="1" dirty="0">
              <a:solidFill>
                <a:srgbClr val="294625"/>
              </a:solidFill>
            </a:endParaRPr>
          </a:p>
          <a:p>
            <a:r>
              <a:rPr lang="pt-PT" sz="1400" dirty="0">
                <a:solidFill>
                  <a:srgbClr val="294625"/>
                </a:solidFill>
              </a:rPr>
              <a:t>Crises frequentes perturbam o bem estar, a aprendizagem e a vida familiar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FA8417-6BDF-7BA5-6623-763A0692D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836627-EFE3-3EF9-E9F6-A6A74F9491B9}"/>
              </a:ext>
            </a:extLst>
          </p:cNvPr>
          <p:cNvCxnSpPr>
            <a:cxnSpLocks/>
          </p:cNvCxnSpPr>
          <p:nvPr/>
        </p:nvCxnSpPr>
        <p:spPr>
          <a:xfrm>
            <a:off x="5534025" y="1666875"/>
            <a:ext cx="0" cy="590550"/>
          </a:xfrm>
          <a:prstGeom prst="line">
            <a:avLst/>
          </a:prstGeom>
          <a:ln w="28575">
            <a:solidFill>
              <a:srgbClr val="2946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3F80E4F-8F84-E155-4BAE-54CEABDD64C0}"/>
              </a:ext>
            </a:extLst>
          </p:cNvPr>
          <p:cNvCxnSpPr>
            <a:cxnSpLocks/>
          </p:cNvCxnSpPr>
          <p:nvPr/>
        </p:nvCxnSpPr>
        <p:spPr>
          <a:xfrm>
            <a:off x="5534025" y="3286125"/>
            <a:ext cx="0" cy="847725"/>
          </a:xfrm>
          <a:prstGeom prst="line">
            <a:avLst/>
          </a:prstGeom>
          <a:ln w="28575">
            <a:solidFill>
              <a:srgbClr val="2946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E4B91B-0033-493D-F32D-B58E2321D121}"/>
              </a:ext>
            </a:extLst>
          </p:cNvPr>
          <p:cNvCxnSpPr>
            <a:cxnSpLocks/>
          </p:cNvCxnSpPr>
          <p:nvPr/>
        </p:nvCxnSpPr>
        <p:spPr>
          <a:xfrm>
            <a:off x="5534025" y="5162550"/>
            <a:ext cx="0" cy="676275"/>
          </a:xfrm>
          <a:prstGeom prst="line">
            <a:avLst/>
          </a:prstGeom>
          <a:ln w="28575">
            <a:solidFill>
              <a:srgbClr val="2946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804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30CAA-D20B-3015-2D44-E46305B51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2027096-291E-C2C3-B8BD-9B80C23880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372C5D-54A3-CE7E-CC36-94081B247957}"/>
              </a:ext>
            </a:extLst>
          </p:cNvPr>
          <p:cNvSpPr txBox="1"/>
          <p:nvPr/>
        </p:nvSpPr>
        <p:spPr>
          <a:xfrm>
            <a:off x="719904" y="464850"/>
            <a:ext cx="2348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solidFill>
                  <a:srgbClr val="4A19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Utilizadores</a:t>
            </a:r>
            <a:endParaRPr lang="en-US" sz="3200" dirty="0">
              <a:solidFill>
                <a:srgbClr val="4A19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B4A9B-8C88-96EA-C57A-A42F20C9F61E}"/>
              </a:ext>
            </a:extLst>
          </p:cNvPr>
          <p:cNvSpPr txBox="1"/>
          <p:nvPr/>
        </p:nvSpPr>
        <p:spPr>
          <a:xfrm>
            <a:off x="633409" y="3011775"/>
            <a:ext cx="335337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4A190D"/>
                </a:solidFill>
              </a:rPr>
              <a:t>Criança</a:t>
            </a:r>
          </a:p>
          <a:p>
            <a:endParaRPr lang="pt-PT" sz="1600" b="1" dirty="0">
              <a:solidFill>
                <a:srgbClr val="4A190D"/>
              </a:solidFill>
            </a:endParaRPr>
          </a:p>
          <a:p>
            <a:endParaRPr lang="pt-PT" sz="1600" b="1" dirty="0">
              <a:solidFill>
                <a:srgbClr val="4A190D"/>
              </a:solidFill>
            </a:endParaRPr>
          </a:p>
          <a:p>
            <a:r>
              <a:rPr lang="pt-PT" sz="1600" dirty="0">
                <a:solidFill>
                  <a:srgbClr val="4A190D"/>
                </a:solidFill>
              </a:rPr>
              <a:t>- Utilizador principal</a:t>
            </a:r>
          </a:p>
          <a:p>
            <a:r>
              <a:rPr lang="pt-PT" sz="1600" dirty="0">
                <a:solidFill>
                  <a:srgbClr val="4A190D"/>
                </a:solidFill>
              </a:rPr>
              <a:t>- Em pré-escolar ou 1º ciclo </a:t>
            </a:r>
          </a:p>
          <a:p>
            <a:r>
              <a:rPr lang="pt-PT" sz="1600" dirty="0">
                <a:solidFill>
                  <a:srgbClr val="4A190D"/>
                </a:solidFill>
              </a:rPr>
              <a:t>- Com ou sem necessidades especiais </a:t>
            </a:r>
          </a:p>
          <a:p>
            <a:r>
              <a:rPr lang="pt-PT" sz="1600" dirty="0">
                <a:solidFill>
                  <a:srgbClr val="4A190D"/>
                </a:solidFill>
              </a:rPr>
              <a:t>- Que experienciem medo</a:t>
            </a:r>
            <a:endParaRPr lang="pt-PT" sz="1400" dirty="0">
              <a:solidFill>
                <a:srgbClr val="4A190D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D8FF591-2390-5417-9411-6367C69CA3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904" y="1962150"/>
            <a:ext cx="720000" cy="720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6866FE0-312D-79F1-5A9B-2C9F08BA71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7094" y="1962150"/>
            <a:ext cx="720000" cy="720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4DEE24E-4645-B460-2CA2-FD6F4A9831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3499" y="1962150"/>
            <a:ext cx="720000" cy="72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A1F2409-825C-68B9-2F86-50C7DD9CA28C}"/>
              </a:ext>
            </a:extLst>
          </p:cNvPr>
          <p:cNvSpPr txBox="1"/>
          <p:nvPr/>
        </p:nvSpPr>
        <p:spPr>
          <a:xfrm>
            <a:off x="4260529" y="3011774"/>
            <a:ext cx="335337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4A190D"/>
                </a:solidFill>
              </a:rPr>
              <a:t>Pais / Cuidadores</a:t>
            </a:r>
          </a:p>
          <a:p>
            <a:endParaRPr lang="pt-PT" sz="1600" b="1" dirty="0">
              <a:solidFill>
                <a:srgbClr val="4A190D"/>
              </a:solidFill>
            </a:endParaRPr>
          </a:p>
          <a:p>
            <a:endParaRPr lang="pt-PT" sz="1600" b="1" dirty="0">
              <a:solidFill>
                <a:srgbClr val="4A190D"/>
              </a:solidFill>
            </a:endParaRPr>
          </a:p>
          <a:p>
            <a:r>
              <a:rPr lang="pt-PT" sz="1600" dirty="0">
                <a:solidFill>
                  <a:srgbClr val="4A190D"/>
                </a:solidFill>
              </a:rPr>
              <a:t>- Acompanham a criança dia a dia</a:t>
            </a:r>
          </a:p>
          <a:p>
            <a:r>
              <a:rPr lang="pt-PT" sz="1600" dirty="0">
                <a:solidFill>
                  <a:srgbClr val="4A190D"/>
                </a:solidFill>
              </a:rPr>
              <a:t>- Monitorizam estatísticas </a:t>
            </a:r>
          </a:p>
          <a:p>
            <a:r>
              <a:rPr lang="pt-PT" sz="1600" dirty="0">
                <a:solidFill>
                  <a:srgbClr val="4A190D"/>
                </a:solidFill>
              </a:rPr>
              <a:t>- Consulta registos das interações</a:t>
            </a:r>
          </a:p>
          <a:p>
            <a:r>
              <a:rPr lang="pt-PT" sz="1600" dirty="0">
                <a:solidFill>
                  <a:srgbClr val="4A190D"/>
                </a:solidFill>
              </a:rPr>
              <a:t>- Compreendem melhor as reações emocionais do filho(a)</a:t>
            </a:r>
            <a:endParaRPr lang="pt-PT" sz="1400" dirty="0">
              <a:solidFill>
                <a:srgbClr val="4A190D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9AA2F4-D296-3136-695E-1B3423C9E9FA}"/>
              </a:ext>
            </a:extLst>
          </p:cNvPr>
          <p:cNvSpPr txBox="1"/>
          <p:nvPr/>
        </p:nvSpPr>
        <p:spPr>
          <a:xfrm>
            <a:off x="7972993" y="3011774"/>
            <a:ext cx="33533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4A190D"/>
                </a:solidFill>
              </a:rPr>
              <a:t>Terapeutas</a:t>
            </a:r>
          </a:p>
          <a:p>
            <a:endParaRPr lang="pt-PT" sz="1600" b="1" dirty="0">
              <a:solidFill>
                <a:srgbClr val="4A190D"/>
              </a:solidFill>
            </a:endParaRPr>
          </a:p>
          <a:p>
            <a:endParaRPr lang="pt-PT" sz="1600" b="1" dirty="0">
              <a:solidFill>
                <a:srgbClr val="4A190D"/>
              </a:solidFill>
            </a:endParaRPr>
          </a:p>
          <a:p>
            <a:r>
              <a:rPr lang="pt-PT" sz="1600" dirty="0">
                <a:solidFill>
                  <a:srgbClr val="4A190D"/>
                </a:solidFill>
              </a:rPr>
              <a:t>- Utilizadores especializados</a:t>
            </a:r>
          </a:p>
          <a:p>
            <a:r>
              <a:rPr lang="pt-PT" sz="1600" dirty="0">
                <a:solidFill>
                  <a:srgbClr val="4A190D"/>
                </a:solidFill>
              </a:rPr>
              <a:t>- Utilizam em contexto de acompanhamento</a:t>
            </a:r>
          </a:p>
          <a:p>
            <a:r>
              <a:rPr lang="pt-PT" sz="1600" dirty="0">
                <a:solidFill>
                  <a:srgbClr val="4A190D"/>
                </a:solidFill>
              </a:rPr>
              <a:t>- Analisam dados recolhidos </a:t>
            </a:r>
          </a:p>
          <a:p>
            <a:r>
              <a:rPr lang="pt-PT" sz="1600" dirty="0">
                <a:solidFill>
                  <a:srgbClr val="4A190D"/>
                </a:solidFill>
              </a:rPr>
              <a:t>- Avaliam a evolução da criança ao longo do tempo</a:t>
            </a:r>
          </a:p>
          <a:p>
            <a:r>
              <a:rPr lang="pt-PT" sz="1600" dirty="0">
                <a:solidFill>
                  <a:srgbClr val="4A190D"/>
                </a:solidFill>
              </a:rPr>
              <a:t>- Adotam estratégias terapêuticas</a:t>
            </a:r>
          </a:p>
        </p:txBody>
      </p:sp>
    </p:spTree>
    <p:extLst>
      <p:ext uri="{BB962C8B-B14F-4D97-AF65-F5344CB8AC3E}">
        <p14:creationId xmlns:p14="http://schemas.microsoft.com/office/powerpoint/2010/main" val="1294420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80ABE-1690-00E8-8008-196ABD769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758CB-ADEA-461B-CC1B-72124CD39A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6981D5-4DB7-1735-00AB-C59A1AA411AC}"/>
              </a:ext>
            </a:extLst>
          </p:cNvPr>
          <p:cNvSpPr txBox="1"/>
          <p:nvPr/>
        </p:nvSpPr>
        <p:spPr>
          <a:xfrm>
            <a:off x="3621168" y="762220"/>
            <a:ext cx="535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rgbClr val="2946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Soluções Geradas por IA</a:t>
            </a:r>
            <a:endParaRPr lang="en-US" sz="3200" b="1" dirty="0">
              <a:solidFill>
                <a:srgbClr val="2946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C4CEAA-803C-F0BD-CE8A-FDDADDFD8C31}"/>
              </a:ext>
            </a:extLst>
          </p:cNvPr>
          <p:cNvSpPr txBox="1"/>
          <p:nvPr/>
        </p:nvSpPr>
        <p:spPr>
          <a:xfrm>
            <a:off x="866784" y="2784261"/>
            <a:ext cx="270604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94625"/>
                </a:solidFill>
              </a:rPr>
              <a:t>⌚</a:t>
            </a:r>
            <a:r>
              <a:rPr lang="en-US" b="1" dirty="0" err="1">
                <a:solidFill>
                  <a:srgbClr val="294625"/>
                </a:solidFill>
              </a:rPr>
              <a:t>Pulseira</a:t>
            </a:r>
            <a:r>
              <a:rPr lang="en-US" b="1" dirty="0">
                <a:solidFill>
                  <a:srgbClr val="294625"/>
                </a:solidFill>
              </a:rPr>
              <a:t> Wearable</a:t>
            </a:r>
            <a:endParaRPr lang="pt-PT" sz="1600" b="1" dirty="0">
              <a:solidFill>
                <a:srgbClr val="294625"/>
              </a:solidFill>
            </a:endParaRPr>
          </a:p>
          <a:p>
            <a:endParaRPr lang="pt-PT" sz="1600" b="1" dirty="0"/>
          </a:p>
          <a:p>
            <a:r>
              <a:rPr lang="pt-PT" sz="1600" dirty="0"/>
              <a:t>Vibração no pulso em resposta a sons</a:t>
            </a:r>
          </a:p>
          <a:p>
            <a:endParaRPr lang="pt-P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Discreta e portátil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Díficil de usar para crianças pequenas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Pouco recomfortante</a:t>
            </a:r>
            <a:endParaRPr lang="pt-PT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80AF0A-C45F-9F6D-99CA-D6728F747D8D}"/>
              </a:ext>
            </a:extLst>
          </p:cNvPr>
          <p:cNvSpPr/>
          <p:nvPr/>
        </p:nvSpPr>
        <p:spPr>
          <a:xfrm>
            <a:off x="719904" y="2621280"/>
            <a:ext cx="2852928" cy="33162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874CD-EDA6-0997-E5E5-098191FDCA47}"/>
              </a:ext>
            </a:extLst>
          </p:cNvPr>
          <p:cNvSpPr txBox="1"/>
          <p:nvPr/>
        </p:nvSpPr>
        <p:spPr>
          <a:xfrm>
            <a:off x="5017872" y="2788746"/>
            <a:ext cx="270604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94625"/>
                </a:solidFill>
              </a:rPr>
              <a:t>🐻 </a:t>
            </a:r>
            <a:r>
              <a:rPr lang="en-US" b="1" dirty="0" err="1">
                <a:solidFill>
                  <a:srgbClr val="294625"/>
                </a:solidFill>
              </a:rPr>
              <a:t>Peluche</a:t>
            </a:r>
            <a:r>
              <a:rPr lang="en-US" b="1" dirty="0">
                <a:solidFill>
                  <a:srgbClr val="294625"/>
                </a:solidFill>
              </a:rPr>
              <a:t> Robbi</a:t>
            </a:r>
          </a:p>
          <a:p>
            <a:endParaRPr lang="pt-PT" sz="1600" b="1" dirty="0"/>
          </a:p>
          <a:p>
            <a:r>
              <a:rPr lang="pt-PT" sz="1600" dirty="0"/>
              <a:t>Companheiro físico + app</a:t>
            </a:r>
          </a:p>
          <a:p>
            <a:endParaRPr lang="pt-P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Tátil e recomfortante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Não-verbal e inclusivo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Personalizável</a:t>
            </a:r>
            <a:endParaRPr lang="pt-PT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0325FD-898C-CC88-EB11-59B4375F853E}"/>
              </a:ext>
            </a:extLst>
          </p:cNvPr>
          <p:cNvSpPr/>
          <p:nvPr/>
        </p:nvSpPr>
        <p:spPr>
          <a:xfrm>
            <a:off x="4645152" y="1975104"/>
            <a:ext cx="3304032" cy="3962400"/>
          </a:xfrm>
          <a:prstGeom prst="rect">
            <a:avLst/>
          </a:prstGeom>
          <a:noFill/>
          <a:ln w="127000">
            <a:solidFill>
              <a:srgbClr val="2946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29E24B-F54E-0FB0-432A-BCC47D47CC01}"/>
              </a:ext>
            </a:extLst>
          </p:cNvPr>
          <p:cNvSpPr txBox="1"/>
          <p:nvPr/>
        </p:nvSpPr>
        <p:spPr>
          <a:xfrm>
            <a:off x="9168960" y="2784261"/>
            <a:ext cx="270604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94625"/>
                </a:solidFill>
              </a:rPr>
              <a:t>🟦Tapete </a:t>
            </a:r>
            <a:r>
              <a:rPr lang="en-US" b="1" dirty="0" err="1">
                <a:solidFill>
                  <a:srgbClr val="294625"/>
                </a:solidFill>
              </a:rPr>
              <a:t>Interativo</a:t>
            </a:r>
            <a:endParaRPr lang="en-US" b="1" dirty="0">
              <a:solidFill>
                <a:srgbClr val="294625"/>
              </a:solidFill>
            </a:endParaRPr>
          </a:p>
          <a:p>
            <a:endParaRPr lang="pt-PT" sz="1600" b="1" dirty="0">
              <a:solidFill>
                <a:srgbClr val="294625"/>
              </a:solidFill>
            </a:endParaRPr>
          </a:p>
          <a:p>
            <a:r>
              <a:rPr lang="pt-PT" sz="1600" dirty="0"/>
              <a:t>Superfície sensorial com padrões</a:t>
            </a:r>
          </a:p>
          <a:p>
            <a:endParaRPr lang="pt-P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Estimula o movimento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Pouco portátil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Difícil de usar fora de casa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04A229-A3A5-6F90-4DD1-C18BE589BA64}"/>
              </a:ext>
            </a:extLst>
          </p:cNvPr>
          <p:cNvSpPr/>
          <p:nvPr/>
        </p:nvSpPr>
        <p:spPr>
          <a:xfrm>
            <a:off x="9022080" y="2621280"/>
            <a:ext cx="2852928" cy="33162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28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946E8-375A-F690-8001-ECB9D9775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82C8DC-4A39-05FC-342F-8596FF20B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FD47A6-9750-F945-A5AF-31C7AEA3C14A}"/>
              </a:ext>
            </a:extLst>
          </p:cNvPr>
          <p:cNvSpPr txBox="1"/>
          <p:nvPr/>
        </p:nvSpPr>
        <p:spPr>
          <a:xfrm>
            <a:off x="7010402" y="380644"/>
            <a:ext cx="35178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rgbClr val="2946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Porquê o Robbi?</a:t>
            </a:r>
            <a:endParaRPr lang="en-US" sz="3200" b="1" dirty="0">
              <a:solidFill>
                <a:srgbClr val="2946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34DAA1-A169-57E3-880D-5A2CC1935B94}"/>
              </a:ext>
            </a:extLst>
          </p:cNvPr>
          <p:cNvSpPr txBox="1"/>
          <p:nvPr/>
        </p:nvSpPr>
        <p:spPr>
          <a:xfrm>
            <a:off x="7010402" y="1016219"/>
            <a:ext cx="425653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>
                <a:solidFill>
                  <a:srgbClr val="294625"/>
                </a:solidFill>
              </a:rPr>
              <a:t>Interação Não Verbal</a:t>
            </a:r>
          </a:p>
          <a:p>
            <a:endParaRPr lang="pt-PT" sz="1600" dirty="0"/>
          </a:p>
          <a:p>
            <a:r>
              <a:rPr lang="pt-PT" sz="1600" dirty="0"/>
              <a:t>Comunicação sem palavras, ideal em momentos de crise</a:t>
            </a:r>
          </a:p>
          <a:p>
            <a:endParaRPr lang="pt-PT" sz="1600" dirty="0"/>
          </a:p>
          <a:p>
            <a:endParaRPr lang="pt-P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>
                <a:solidFill>
                  <a:srgbClr val="294625"/>
                </a:solidFill>
              </a:rPr>
              <a:t>Transportável</a:t>
            </a:r>
          </a:p>
          <a:p>
            <a:endParaRPr lang="pt-PT" sz="1600" dirty="0"/>
          </a:p>
          <a:p>
            <a:r>
              <a:rPr lang="pt-PT" sz="1600" dirty="0"/>
              <a:t>Acompanha a criança em qualquer contexto</a:t>
            </a:r>
          </a:p>
          <a:p>
            <a:endParaRPr lang="pt-PT" sz="1600" dirty="0"/>
          </a:p>
          <a:p>
            <a:endParaRPr lang="pt-P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>
                <a:solidFill>
                  <a:srgbClr val="294625"/>
                </a:solidFill>
              </a:rPr>
              <a:t>Adaptável</a:t>
            </a:r>
          </a:p>
          <a:p>
            <a:endParaRPr lang="pt-PT" sz="1600" dirty="0"/>
          </a:p>
          <a:p>
            <a:r>
              <a:rPr lang="pt-PT" sz="1600" dirty="0"/>
              <a:t>Adapta-se a crianças com diferentes necessidades especiais</a:t>
            </a:r>
          </a:p>
          <a:p>
            <a:endParaRPr lang="pt-PT" sz="1600" dirty="0"/>
          </a:p>
          <a:p>
            <a:endParaRPr lang="pt-P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>
                <a:solidFill>
                  <a:srgbClr val="294625"/>
                </a:solidFill>
              </a:rPr>
              <a:t>Seguro e Reconfortante</a:t>
            </a:r>
          </a:p>
          <a:p>
            <a:endParaRPr lang="pt-PT" sz="1600" dirty="0"/>
          </a:p>
          <a:p>
            <a:r>
              <a:rPr lang="pt-PT" sz="1600" dirty="0"/>
              <a:t>Formato familiar de peluche reduz resistência à interação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1B527A-AA68-6D87-942F-51DE9E42F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81600" cy="690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550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EA20E-2F50-A99D-CB60-58ABC4475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2FF0BD-7ED3-CC1F-9F42-C2901C490E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1639B9-F611-A7F9-769A-B0ED033863FC}"/>
              </a:ext>
            </a:extLst>
          </p:cNvPr>
          <p:cNvSpPr txBox="1"/>
          <p:nvPr/>
        </p:nvSpPr>
        <p:spPr>
          <a:xfrm>
            <a:off x="607838" y="863024"/>
            <a:ext cx="5486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rgbClr val="2946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Reflexão sobre o Uso de IA</a:t>
            </a:r>
            <a:endParaRPr lang="en-US" sz="3200" b="1" dirty="0">
              <a:solidFill>
                <a:srgbClr val="2946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5C064C-F5A8-6E0A-F212-0502B411EAA2}"/>
              </a:ext>
            </a:extLst>
          </p:cNvPr>
          <p:cNvSpPr txBox="1"/>
          <p:nvPr/>
        </p:nvSpPr>
        <p:spPr>
          <a:xfrm>
            <a:off x="607838" y="1997839"/>
            <a:ext cx="42565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294625"/>
                </a:solidFill>
              </a:rPr>
              <a:t>Limitação Encontrada</a:t>
            </a:r>
          </a:p>
          <a:p>
            <a:endParaRPr lang="pt-PT" sz="1600" dirty="0"/>
          </a:p>
          <a:p>
            <a:r>
              <a:rPr lang="pt-PT" sz="1600" dirty="0"/>
              <a:t>IA sugeriu tapete como solução principal, sem qualquer justificação </a:t>
            </a:r>
          </a:p>
          <a:p>
            <a:endParaRPr lang="pt-PT" sz="1600" dirty="0"/>
          </a:p>
          <a:p>
            <a:endParaRPr lang="pt-PT" sz="1600" dirty="0"/>
          </a:p>
          <a:p>
            <a:r>
              <a:rPr lang="pt-PT" b="1" dirty="0">
                <a:solidFill>
                  <a:srgbClr val="294625"/>
                </a:solidFill>
              </a:rPr>
              <a:t>Correção Aplicada</a:t>
            </a:r>
          </a:p>
          <a:p>
            <a:endParaRPr lang="pt-PT" sz="1600" dirty="0"/>
          </a:p>
          <a:p>
            <a:r>
              <a:rPr lang="pt-PT" sz="1600" dirty="0"/>
              <a:t>Aplicámos a nossa análise crítica de forma estruturada, tendo em conta as capacidades e necessidades dos utilizadores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F1FD40-1735-3D6D-40FB-17B58C699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206" y="1866900"/>
            <a:ext cx="6454588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9566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87948-B0AC-25C0-46B6-9AD93C603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FB43B7-EACB-9A19-5193-77374E076E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E9CE04-A5C4-E7AC-8E0B-358BBDBF5C4D}"/>
              </a:ext>
            </a:extLst>
          </p:cNvPr>
          <p:cNvSpPr txBox="1"/>
          <p:nvPr/>
        </p:nvSpPr>
        <p:spPr>
          <a:xfrm>
            <a:off x="582438" y="628726"/>
            <a:ext cx="3249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rgbClr val="2946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Scholar</a:t>
            </a:r>
            <a:endParaRPr lang="en-US" sz="3200" b="1" dirty="0">
              <a:solidFill>
                <a:srgbClr val="2946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6D1312-6289-FE35-D40F-D4FF20C9AD67}"/>
              </a:ext>
            </a:extLst>
          </p:cNvPr>
          <p:cNvSpPr txBox="1"/>
          <p:nvPr/>
        </p:nvSpPr>
        <p:spPr>
          <a:xfrm>
            <a:off x="582438" y="3175499"/>
            <a:ext cx="4256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Tangible Interface Game for Stimulating Child Cognitive Skill</a:t>
            </a:r>
          </a:p>
          <a:p>
            <a:r>
              <a:rPr lang="pt-BR" dirty="0"/>
              <a:t>Valida o uso de NFC nas peças texturizadas do Robbi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E7DAE0-B5F5-2823-60AD-228923E13563}"/>
              </a:ext>
            </a:extLst>
          </p:cNvPr>
          <p:cNvSpPr txBox="1"/>
          <p:nvPr/>
        </p:nvSpPr>
        <p:spPr>
          <a:xfrm>
            <a:off x="582438" y="1397726"/>
            <a:ext cx="42565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Multifunctional Smart Toy for Children with Autism Spectrum Disorder</a:t>
            </a:r>
          </a:p>
          <a:p>
            <a:r>
              <a:rPr lang="pt-BR" dirty="0"/>
              <a:t>Smart toys reforçam a decisão de usar o peluche com feedback tátil para atuar de forma terapêutica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A03A2-8498-5AAB-D225-3DB81CA5E006}"/>
              </a:ext>
            </a:extLst>
          </p:cNvPr>
          <p:cNvSpPr txBox="1"/>
          <p:nvPr/>
        </p:nvSpPr>
        <p:spPr>
          <a:xfrm>
            <a:off x="6577374" y="1397726"/>
            <a:ext cx="42565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Serious Game Design Principles for Children with Autism to Facilitate the Development of Emotion Refulation</a:t>
            </a:r>
          </a:p>
          <a:p>
            <a:r>
              <a:rPr lang="pt-BR" dirty="0"/>
              <a:t>Recompensas são fundamentais em sistemas interativos para manter a motivação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E1BDF-F880-DBF3-9AB4-2E962E1C8A80}"/>
              </a:ext>
            </a:extLst>
          </p:cNvPr>
          <p:cNvSpPr txBox="1"/>
          <p:nvPr/>
        </p:nvSpPr>
        <p:spPr>
          <a:xfrm>
            <a:off x="6577374" y="3349449"/>
            <a:ext cx="4256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Integrating IoT and Sensor-Based Technologies in Autism Spectrum Disorder</a:t>
            </a:r>
          </a:p>
          <a:p>
            <a:r>
              <a:rPr lang="pt-BR" dirty="0"/>
              <a:t>Sustenta a justificação de descartar um wearable intrusivo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EA676-DD17-30C7-6DFF-25D0ED5BFB0A}"/>
              </a:ext>
            </a:extLst>
          </p:cNvPr>
          <p:cNvSpPr txBox="1"/>
          <p:nvPr/>
        </p:nvSpPr>
        <p:spPr>
          <a:xfrm>
            <a:off x="6577374" y="4721610"/>
            <a:ext cx="42565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Use of a Video Game with Tangible Interfaces of Work Emotions in Children with Autism</a:t>
            </a:r>
          </a:p>
          <a:p>
            <a:r>
              <a:rPr lang="pt-BR" dirty="0"/>
              <a:t>Ligação de um ambiente físico a uma aplicação digital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B82490-155D-5C07-ABDA-1283914025D9}"/>
              </a:ext>
            </a:extLst>
          </p:cNvPr>
          <p:cNvCxnSpPr/>
          <p:nvPr/>
        </p:nvCxnSpPr>
        <p:spPr>
          <a:xfrm>
            <a:off x="582438" y="1524000"/>
            <a:ext cx="0" cy="1219200"/>
          </a:xfrm>
          <a:prstGeom prst="line">
            <a:avLst/>
          </a:prstGeom>
          <a:ln w="38100">
            <a:solidFill>
              <a:srgbClr val="2946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ADCB30E-B021-5D2F-477C-11ED24B3A487}"/>
              </a:ext>
            </a:extLst>
          </p:cNvPr>
          <p:cNvCxnSpPr>
            <a:cxnSpLocks/>
          </p:cNvCxnSpPr>
          <p:nvPr/>
        </p:nvCxnSpPr>
        <p:spPr>
          <a:xfrm>
            <a:off x="582438" y="3349449"/>
            <a:ext cx="0" cy="934214"/>
          </a:xfrm>
          <a:prstGeom prst="line">
            <a:avLst/>
          </a:prstGeom>
          <a:ln w="38100">
            <a:solidFill>
              <a:srgbClr val="2946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6DD693-E7C0-D30D-4A62-5134A2EB0A2D}"/>
              </a:ext>
            </a:extLst>
          </p:cNvPr>
          <p:cNvCxnSpPr>
            <a:cxnSpLocks/>
          </p:cNvCxnSpPr>
          <p:nvPr/>
        </p:nvCxnSpPr>
        <p:spPr>
          <a:xfrm>
            <a:off x="6575612" y="1524000"/>
            <a:ext cx="0" cy="1511300"/>
          </a:xfrm>
          <a:prstGeom prst="line">
            <a:avLst/>
          </a:prstGeom>
          <a:ln w="38100">
            <a:solidFill>
              <a:srgbClr val="2946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EC0E2D-4AD4-8E8D-159C-93ECAA6242AF}"/>
              </a:ext>
            </a:extLst>
          </p:cNvPr>
          <p:cNvCxnSpPr>
            <a:cxnSpLocks/>
          </p:cNvCxnSpPr>
          <p:nvPr/>
        </p:nvCxnSpPr>
        <p:spPr>
          <a:xfrm>
            <a:off x="6575612" y="3429000"/>
            <a:ext cx="0" cy="946828"/>
          </a:xfrm>
          <a:prstGeom prst="line">
            <a:avLst/>
          </a:prstGeom>
          <a:ln w="38100">
            <a:solidFill>
              <a:srgbClr val="2946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C28758C-F5B0-62B7-9649-19202F5BCA52}"/>
              </a:ext>
            </a:extLst>
          </p:cNvPr>
          <p:cNvCxnSpPr>
            <a:cxnSpLocks/>
          </p:cNvCxnSpPr>
          <p:nvPr/>
        </p:nvCxnSpPr>
        <p:spPr>
          <a:xfrm>
            <a:off x="6575612" y="4838700"/>
            <a:ext cx="0" cy="1193800"/>
          </a:xfrm>
          <a:prstGeom prst="line">
            <a:avLst/>
          </a:prstGeom>
          <a:ln w="38100">
            <a:solidFill>
              <a:srgbClr val="2946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8815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EB6C9-F9E1-57AC-3E6F-38D92795E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9CF6AFD-4F78-66F7-E5D0-691412B643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A36F61-6063-6A9A-7BA4-8160489710F5}"/>
              </a:ext>
            </a:extLst>
          </p:cNvPr>
          <p:cNvSpPr txBox="1"/>
          <p:nvPr/>
        </p:nvSpPr>
        <p:spPr>
          <a:xfrm>
            <a:off x="925337" y="711276"/>
            <a:ext cx="3824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rgbClr val="2946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de Tarefas</a:t>
            </a:r>
            <a:endParaRPr lang="en-US" sz="3200" b="1" dirty="0">
              <a:solidFill>
                <a:srgbClr val="2946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B6B97D-F89A-EE2D-C1B9-CE7930D747AA}"/>
              </a:ext>
            </a:extLst>
          </p:cNvPr>
          <p:cNvSpPr txBox="1"/>
          <p:nvPr/>
        </p:nvSpPr>
        <p:spPr>
          <a:xfrm>
            <a:off x="6729774" y="1443841"/>
            <a:ext cx="42565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Tarefa Principal</a:t>
            </a:r>
          </a:p>
          <a:p>
            <a:endParaRPr lang="pt-BR" b="1" dirty="0"/>
          </a:p>
          <a:p>
            <a:r>
              <a:rPr lang="pt-BR" dirty="0"/>
              <a:t>Montar sequência de 3 peças no Robbi</a:t>
            </a:r>
          </a:p>
          <a:p>
            <a:endParaRPr lang="pt-BR" b="1" dirty="0"/>
          </a:p>
          <a:p>
            <a:endParaRPr lang="pt-BR" b="1" dirty="0"/>
          </a:p>
          <a:p>
            <a:r>
              <a:rPr lang="pt-BR" b="1" dirty="0"/>
              <a:t>Tarefa Díficil</a:t>
            </a:r>
          </a:p>
          <a:p>
            <a:endParaRPr lang="pt-BR" b="1" dirty="0"/>
          </a:p>
          <a:p>
            <a:r>
              <a:rPr lang="pt-BR" dirty="0"/>
              <a:t>Completar a sequência durante uma crise</a:t>
            </a:r>
          </a:p>
          <a:p>
            <a:endParaRPr lang="pt-BR" b="1" dirty="0"/>
          </a:p>
          <a:p>
            <a:endParaRPr lang="pt-BR" b="1" dirty="0"/>
          </a:p>
          <a:p>
            <a:r>
              <a:rPr lang="pt-BR" b="1" dirty="0"/>
              <a:t>Solução</a:t>
            </a:r>
          </a:p>
          <a:p>
            <a:endParaRPr lang="pt-BR" b="1" dirty="0"/>
          </a:p>
          <a:p>
            <a:r>
              <a:rPr lang="pt-BR" b="1" dirty="0"/>
              <a:t>Encaixe magnético e aplicação aceita </a:t>
            </a:r>
            <a:r>
              <a:rPr lang="pt-BR" dirty="0"/>
              <a:t>sequências incompletas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B44F13-04CC-13CF-8A8A-4BB1D42141FD}"/>
              </a:ext>
            </a:extLst>
          </p:cNvPr>
          <p:cNvCxnSpPr>
            <a:cxnSpLocks/>
          </p:cNvCxnSpPr>
          <p:nvPr/>
        </p:nvCxnSpPr>
        <p:spPr>
          <a:xfrm>
            <a:off x="6575612" y="1524000"/>
            <a:ext cx="0" cy="3695700"/>
          </a:xfrm>
          <a:prstGeom prst="line">
            <a:avLst/>
          </a:prstGeom>
          <a:ln w="38100">
            <a:solidFill>
              <a:srgbClr val="2946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E3FFC9A-1650-C945-1D05-C13782C3F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15" y="2007327"/>
            <a:ext cx="5295858" cy="303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0528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08135-696E-B361-0E45-BEED91D77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504F35-DD48-9E10-865C-C409D51E3C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4A4800-E5EC-6397-06B5-D3C5B3BBC3BB}"/>
              </a:ext>
            </a:extLst>
          </p:cNvPr>
          <p:cNvSpPr txBox="1"/>
          <p:nvPr/>
        </p:nvSpPr>
        <p:spPr>
          <a:xfrm>
            <a:off x="925337" y="711276"/>
            <a:ext cx="4256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rgbClr val="2946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Solução Tecnológica</a:t>
            </a:r>
            <a:endParaRPr lang="en-US" sz="3200" b="1" dirty="0">
              <a:solidFill>
                <a:srgbClr val="2946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97D6A4-C41F-79EE-BF40-A5C82E181A84}"/>
              </a:ext>
            </a:extLst>
          </p:cNvPr>
          <p:cNvSpPr/>
          <p:nvPr/>
        </p:nvSpPr>
        <p:spPr>
          <a:xfrm>
            <a:off x="348501" y="2252663"/>
            <a:ext cx="3457389" cy="2692400"/>
          </a:xfrm>
          <a:prstGeom prst="rect">
            <a:avLst/>
          </a:prstGeom>
          <a:solidFill>
            <a:srgbClr val="FCE3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>
                <a:solidFill>
                  <a:srgbClr val="4A190D"/>
                </a:solidFill>
              </a:rPr>
              <a:t>ESP / Arduino </a:t>
            </a:r>
          </a:p>
          <a:p>
            <a:pPr algn="ctr"/>
            <a:r>
              <a:rPr lang="pt-PT" dirty="0">
                <a:solidFill>
                  <a:srgbClr val="4A190D"/>
                </a:solidFill>
              </a:rPr>
              <a:t>(no interior do peluche)</a:t>
            </a:r>
            <a:endParaRPr lang="en-US" dirty="0">
              <a:solidFill>
                <a:srgbClr val="4A190D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5AEEEF-3358-B0A4-4D1C-998EDD8053D0}"/>
              </a:ext>
            </a:extLst>
          </p:cNvPr>
          <p:cNvSpPr/>
          <p:nvPr/>
        </p:nvSpPr>
        <p:spPr>
          <a:xfrm>
            <a:off x="4367305" y="2252663"/>
            <a:ext cx="3457389" cy="2692400"/>
          </a:xfrm>
          <a:prstGeom prst="rect">
            <a:avLst/>
          </a:prstGeom>
          <a:solidFill>
            <a:srgbClr val="FCE3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>
                <a:solidFill>
                  <a:srgbClr val="4A190D"/>
                </a:solidFill>
              </a:rPr>
              <a:t>NFC</a:t>
            </a:r>
          </a:p>
          <a:p>
            <a:pPr algn="ctr"/>
            <a:r>
              <a:rPr lang="pt-PT" dirty="0">
                <a:solidFill>
                  <a:srgbClr val="4A190D"/>
                </a:solidFill>
              </a:rPr>
              <a:t>(identificam sequência montada)</a:t>
            </a:r>
            <a:endParaRPr lang="en-US" dirty="0">
              <a:solidFill>
                <a:srgbClr val="4A190D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AD1F32-A3D9-8E69-6945-5D36889EF925}"/>
              </a:ext>
            </a:extLst>
          </p:cNvPr>
          <p:cNvSpPr/>
          <p:nvPr/>
        </p:nvSpPr>
        <p:spPr>
          <a:xfrm>
            <a:off x="8386110" y="2252663"/>
            <a:ext cx="3457389" cy="2692400"/>
          </a:xfrm>
          <a:prstGeom prst="rect">
            <a:avLst/>
          </a:prstGeom>
          <a:solidFill>
            <a:srgbClr val="FCE3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>
                <a:solidFill>
                  <a:srgbClr val="4A190D"/>
                </a:solidFill>
              </a:rPr>
              <a:t>Motor de Vibração e DFPlayer</a:t>
            </a:r>
          </a:p>
          <a:p>
            <a:pPr algn="ctr"/>
            <a:r>
              <a:rPr lang="pt-PT" dirty="0">
                <a:solidFill>
                  <a:srgbClr val="4A190D"/>
                </a:solidFill>
              </a:rPr>
              <a:t>(simular batimento cardíaco calmo e reproduz sons relaxantes)</a:t>
            </a:r>
            <a:endParaRPr lang="en-US" dirty="0">
              <a:solidFill>
                <a:srgbClr val="4A19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5574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67F9B-F921-19EF-4733-63A92683E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255CDB-40DD-5BA1-C97B-8B0BF7716E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422CCB-2627-0487-C5FA-6672D8449501}"/>
              </a:ext>
            </a:extLst>
          </p:cNvPr>
          <p:cNvSpPr txBox="1"/>
          <p:nvPr/>
        </p:nvSpPr>
        <p:spPr>
          <a:xfrm>
            <a:off x="925337" y="711276"/>
            <a:ext cx="5069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rgbClr val="2946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da Aplicação</a:t>
            </a:r>
            <a:endParaRPr lang="en-US" sz="3200" b="1" dirty="0">
              <a:solidFill>
                <a:srgbClr val="2946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02AB79E-219B-08A5-5645-D5F439905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7032" y="2529000"/>
            <a:ext cx="1800000" cy="180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A9BE946-0943-6D4C-13F8-55E3E269DA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6467" y="2529000"/>
            <a:ext cx="1800000" cy="1800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B75C2A1-08D0-1502-6DC9-0F1C0447E4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5902" y="2529000"/>
            <a:ext cx="1800000" cy="1800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DFCF20A-5636-A127-6240-4568B41E34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5337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026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455</Words>
  <Application>Microsoft Office PowerPoint</Application>
  <PresentationFormat>Widescreen</PresentationFormat>
  <Paragraphs>129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2</cp:revision>
  <dcterms:created xsi:type="dcterms:W3CDTF">2026-05-14T22:25:11Z</dcterms:created>
  <dcterms:modified xsi:type="dcterms:W3CDTF">2026-05-15T10:38:39Z</dcterms:modified>
</cp:coreProperties>
</file>